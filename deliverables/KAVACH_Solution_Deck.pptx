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1" r:id="rId2"/>
    <p:sldId id="262" r:id="rId3"/>
    <p:sldId id="263" r:id="rId4"/>
    <p:sldId id="264" r:id="rId5"/>
    <p:sldId id="265" r:id="rId6"/>
    <p:sldId id="266" r:id="rId7"/>
    <p:sldId id="267" r:id="rId8"/>
    <p:sldId id="268" r:id="rId9"/>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5D4428D-5941-4A61-A577-FAC7CE696506}" type="datetimeFigureOut">
              <a:t>10/4/2026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DAD85C3-A503-4885-9E41-C9980C9855F5}" type="slidenum">
              <a:t>‹#›</a:t>
            </a:fld>
            <a:endParaRPr lang="en-US"/>
          </a:p>
        </p:txBody>
      </p:sp>
    </p:spTree>
    <p:extLst>
      <p:ext uri="{BB962C8B-B14F-4D97-AF65-F5344CB8AC3E}">
        <p14:creationId xmlns:p14="http://schemas.microsoft.com/office/powerpoint/2010/main" val="911884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KAVACH (armour), like Indian Railways' Kavach that brakes a train before a collision. We stop an AI agent's action before it causes damage.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team name, college, city, member names (left as template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incidents, then say the gap in one sentence: every production guardrail asks 'what kind of action is this?'; we ask 'what will this action actually do, where did its arguments come from, and can it be undone?'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journey: 'Summarise my unread emails.' The inbox hides an instruction to email the customer list to billing@acme-invoices.co. KAVACH lets the reads through, then denies the send: the recipient traces to msg-4471, untrusted, rule R1. The agent is told to summarise to the user instead. No LLM was involved in that decision.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agent proposes; KAVACH labels every argument with where it came from; runs the action on a copy of the database and diffs it; applies the deterministic rules; only then the calibrated model and, for ambiguous cases, the Qualcomm-hosted judge. Full diagram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exact: AI appears in three places. (1) A small calibrated statistical model ranks risk. (2) An optional LLM on Qualcomm checks intent and can only add caution. (3) An LLM writes the explanation from the evidence. Authorization and provenance are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locally (uvicorn kavach.server:app). Pre-warm the Qualcomm endpoint. Keep the recorded fallback video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FE5308-EC61-0E82-5318-2E5467E0B396}"/>
              </a:ext>
            </a:extLst>
          </p:cNvPr>
          <p:cNvPicPr>
            <a:picLocks noChangeAspect="1"/>
          </p:cNvPicPr>
          <p:nvPr userDrawn="1"/>
        </p:nvPicPr>
        <p:blipFill>
          <a:blip r:embed="rId3"/>
          <a:stretch>
            <a:fillRect/>
          </a:stretch>
        </p:blipFill>
        <p:spPr>
          <a:xfrm>
            <a:off x="10574594" y="5876215"/>
            <a:ext cx="1318963" cy="818667"/>
          </a:xfrm>
          <a:prstGeom prst="rect">
            <a:avLst/>
          </a:prstGeom>
        </p:spPr>
      </p:pic>
      <p:pic>
        <p:nvPicPr>
          <p:cNvPr id="5" name="Picture 4">
            <a:extLst>
              <a:ext uri="{FF2B5EF4-FFF2-40B4-BE49-F238E27FC236}">
                <a16:creationId xmlns:a16="http://schemas.microsoft.com/office/drawing/2014/main" id="{B5F3739A-EEDD-E920-B64C-4BAF42FE1117}"/>
              </a:ext>
            </a:extLst>
          </p:cNvPr>
          <p:cNvPicPr>
            <a:picLocks noChangeAspect="1"/>
          </p:cNvPicPr>
          <p:nvPr userDrawn="1"/>
        </p:nvPicPr>
        <p:blipFill>
          <a:blip r:embed="rId4"/>
          <a:stretch>
            <a:fillRect/>
          </a:stretch>
        </p:blipFill>
        <p:spPr>
          <a:xfrm>
            <a:off x="10574594" y="163118"/>
            <a:ext cx="1290881" cy="573334"/>
          </a:xfrm>
          <a:prstGeom prst="rect">
            <a:avLst/>
          </a:prstGeom>
        </p:spPr>
      </p:pic>
      <p:pic>
        <p:nvPicPr>
          <p:cNvPr id="7" name="Picture 6">
            <a:extLst>
              <a:ext uri="{FF2B5EF4-FFF2-40B4-BE49-F238E27FC236}">
                <a16:creationId xmlns:a16="http://schemas.microsoft.com/office/drawing/2014/main" id="{158CF6EF-51B3-F9BF-653F-611F4D661923}"/>
              </a:ext>
            </a:extLst>
          </p:cNvPr>
          <p:cNvPicPr>
            <a:picLocks noChangeAspect="1"/>
          </p:cNvPicPr>
          <p:nvPr userDrawn="1"/>
        </p:nvPicPr>
        <p:blipFill>
          <a:blip r:embed="rId5"/>
          <a:stretch>
            <a:fillRect/>
          </a:stretch>
        </p:blipFill>
        <p:spPr>
          <a:xfrm>
            <a:off x="170911" y="5856565"/>
            <a:ext cx="1514686" cy="838317"/>
          </a:xfrm>
          <a:prstGeom prst="rect">
            <a:avLst/>
          </a:prstGeom>
        </p:spPr>
      </p:pic>
      <p:sp>
        <p:nvSpPr>
          <p:cNvPr id="8" name="TextBox 7">
            <a:extLst>
              <a:ext uri="{FF2B5EF4-FFF2-40B4-BE49-F238E27FC236}">
                <a16:creationId xmlns:a16="http://schemas.microsoft.com/office/drawing/2014/main" id="{C16BA7EB-F111-8C47-C6DE-856C431C5918}"/>
              </a:ext>
            </a:extLst>
          </p:cNvPr>
          <p:cNvSpPr txBox="1"/>
          <p:nvPr userDrawn="1"/>
        </p:nvSpPr>
        <p:spPr>
          <a:xfrm>
            <a:off x="3823854" y="6371716"/>
            <a:ext cx="454429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a:effectLst/>
                <a:latin typeface="+mn-lt"/>
              </a:rPr>
              <a:t>© 2026 Infosys Limited. All rights reserved. </a:t>
            </a:r>
          </a:p>
          <a:p>
            <a:endParaRPr lang="en-US" b="0"/>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AF7831-804B-72A5-6574-FDC83C72188C}"/>
              </a:ext>
            </a:extLst>
          </p:cNvPr>
          <p:cNvSpPr txBox="1"/>
          <p:nvPr/>
        </p:nvSpPr>
        <p:spPr>
          <a:xfrm>
            <a:off x="1939636" y="1842655"/>
            <a:ext cx="8465128" cy="1723549"/>
          </a:xfrm>
          <a:prstGeom prst="rect">
            <a:avLst/>
          </a:prstGeom>
          <a:noFill/>
        </p:spPr>
        <p:txBody>
          <a:bodyPr wrap="square" rtlCol="0">
            <a:spAutoFit/>
          </a:bodyPr>
          <a:lstStyle/>
          <a:p>
            <a:r>
              <a:rPr sz="6000" b="0" i="0">
                <a:solidFill>
                  <a:srgbClr val="1F2937"/>
                </a:solidFill>
              </a:rPr>
              <a:t>KAVACH</a:t>
            </a:r>
          </a:p>
          <a:p>
            <a:r>
              <a:rPr sz="2600" b="0" i="0">
                <a:solidFill>
                  <a:srgbClr val="1F2937"/>
                </a:solidFill>
              </a:rPr>
              <a:t>Pre-execution action firewall for AI agents</a:t>
            </a:r>
          </a:p>
          <a:p>
            <a:r>
              <a:rPr sz="1600" b="0" i="0">
                <a:solidFill>
                  <a:srgbClr val="007CC3"/>
                </a:solidFill>
              </a:rPr>
              <a:t>ET-03 · Agentic AI Guardrail Validator</a:t>
            </a:r>
          </a:p>
        </p:txBody>
      </p:sp>
    </p:spTree>
    <p:extLst>
      <p:ext uri="{BB962C8B-B14F-4D97-AF65-F5344CB8AC3E}">
        <p14:creationId xmlns:p14="http://schemas.microsoft.com/office/powerpoint/2010/main" val="3869430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93C5638-F773-A35E-B550-DEDD6A48FF1D}"/>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Team Introduction</a:t>
            </a:r>
            <a:endParaRPr lang="en-US" sz="2400" dirty="0"/>
          </a:p>
        </p:txBody>
      </p:sp>
      <p:sp>
        <p:nvSpPr>
          <p:cNvPr id="5" name="Text 3">
            <a:extLst>
              <a:ext uri="{FF2B5EF4-FFF2-40B4-BE49-F238E27FC236}">
                <a16:creationId xmlns:a16="http://schemas.microsoft.com/office/drawing/2014/main" id="{E2449A72-43FB-5240-7790-5D50EFB89B5D}"/>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0:20</a:t>
            </a:r>
            <a:endParaRPr lang="en-US" sz="850" dirty="0"/>
          </a:p>
        </p:txBody>
      </p:sp>
      <p:sp>
        <p:nvSpPr>
          <p:cNvPr id="7" name="Text 5">
            <a:extLst>
              <a:ext uri="{FF2B5EF4-FFF2-40B4-BE49-F238E27FC236}">
                <a16:creationId xmlns:a16="http://schemas.microsoft.com/office/drawing/2014/main" id="{33C06E83-2D18-2697-77D8-1766EDC40708}"/>
              </a:ext>
            </a:extLst>
          </p:cNvPr>
          <p:cNvSpPr/>
          <p:nvPr/>
        </p:nvSpPr>
        <p:spPr>
          <a:xfrm>
            <a:off x="566928" y="1133856"/>
            <a:ext cx="2926080" cy="219456"/>
          </a:xfrm>
          <a:prstGeom prst="rect">
            <a:avLst/>
          </a:prstGeom>
          <a:noFill/>
          <a:ln/>
        </p:spPr>
        <p:txBody>
          <a:bodyPr wrap="square" lIns="0" tIns="0" rIns="0" bIns="0" rtlCol="0" anchor="ctr"/>
          <a:lstStyle/>
          <a:p>
            <a:pPr marL="0" indent="0">
              <a:buNone/>
            </a:pPr>
            <a:r>
              <a:rPr lang="en-US" sz="1100" b="1" kern="0" spc="120" dirty="0">
                <a:solidFill>
                  <a:srgbClr val="007CC3"/>
                </a:solidFill>
              </a:rPr>
              <a:t>HACK-AI-THON 2026</a:t>
            </a:r>
            <a:endParaRPr lang="en-US" sz="1100" dirty="0"/>
          </a:p>
        </p:txBody>
      </p:sp>
      <p:sp>
        <p:nvSpPr>
          <p:cNvPr id="8" name="Text 6">
            <a:extLst>
              <a:ext uri="{FF2B5EF4-FFF2-40B4-BE49-F238E27FC236}">
                <a16:creationId xmlns:a16="http://schemas.microsoft.com/office/drawing/2014/main" id="{26341152-32E0-DDA7-8E39-55C4BAD49756}"/>
              </a:ext>
            </a:extLst>
          </p:cNvPr>
          <p:cNvSpPr/>
          <p:nvPr/>
        </p:nvSpPr>
        <p:spPr>
          <a:xfrm>
            <a:off x="566928" y="1472184"/>
            <a:ext cx="6629400" cy="548640"/>
          </a:xfrm>
          <a:prstGeom prst="rect">
            <a:avLst/>
          </a:prstGeom>
          <a:noFill/>
          <a:ln/>
        </p:spPr>
        <p:txBody>
          <a:bodyPr wrap="square" lIns="0" tIns="0" rIns="0" bIns="0" rtlCol="0" anchor="ctr">
            <a:normAutofit/>
          </a:bodyPr>
          <a:lstStyle/>
          <a:p>
            <a:pPr marL="0" indent="0">
              <a:buNone/>
            </a:pPr>
            <a:r>
              <a:rPr lang="en-US" sz="3200" b="1" dirty="0">
                <a:solidFill>
                  <a:srgbClr val="003B7A"/>
                </a:solidFill>
                <a:latin typeface="Aptos Display" pitchFamily="34" charset="0"/>
                <a:ea typeface="Aptos Display" pitchFamily="34" charset="-122"/>
                <a:cs typeface="Aptos Display" pitchFamily="34" charset="-120"/>
              </a:rPr>
              <a:t>[TEAM NAME]</a:t>
            </a:r>
            <a:endParaRPr lang="en-US" sz="3200" dirty="0"/>
          </a:p>
        </p:txBody>
      </p:sp>
      <p:sp>
        <p:nvSpPr>
          <p:cNvPr id="10" name="Shape 8">
            <a:extLst>
              <a:ext uri="{FF2B5EF4-FFF2-40B4-BE49-F238E27FC236}">
                <a16:creationId xmlns:a16="http://schemas.microsoft.com/office/drawing/2014/main" id="{0239C95B-BCA9-CD44-D0BC-9ADFEFE95C8C}"/>
              </a:ext>
            </a:extLst>
          </p:cNvPr>
          <p:cNvSpPr/>
          <p:nvPr/>
        </p:nvSpPr>
        <p:spPr>
          <a:xfrm>
            <a:off x="7635240" y="1261872"/>
            <a:ext cx="4069080" cy="960120"/>
          </a:xfrm>
          <a:prstGeom prst="roundRect">
            <a:avLst>
              <a:gd name="adj" fmla="val 4762"/>
            </a:avLst>
          </a:prstGeom>
          <a:solidFill>
            <a:srgbClr val="FFFFFF"/>
          </a:solidFill>
          <a:ln w="12700">
            <a:solidFill>
              <a:srgbClr val="DCE5EC"/>
            </a:solidFill>
            <a:prstDash val="solid"/>
          </a:ln>
          <a:effectLst>
            <a:outerShdw blurRad="15240" dist="6350" dir="2700000" algn="bl" rotWithShape="0">
              <a:srgbClr val="000000">
                <a:alpha val="12000"/>
              </a:srgbClr>
            </a:outerShdw>
          </a:effectLst>
        </p:spPr>
        <p:txBody>
          <a:bodyPr/>
          <a:lstStyle/>
          <a:p>
            <a:endParaRPr lang="en-US"/>
          </a:p>
        </p:txBody>
      </p:sp>
      <p:sp>
        <p:nvSpPr>
          <p:cNvPr id="11" name="Text 9">
            <a:extLst>
              <a:ext uri="{FF2B5EF4-FFF2-40B4-BE49-F238E27FC236}">
                <a16:creationId xmlns:a16="http://schemas.microsoft.com/office/drawing/2014/main" id="{E0ACF21D-B3D5-FAC8-B6C3-71127CBEF29B}"/>
              </a:ext>
            </a:extLst>
          </p:cNvPr>
          <p:cNvSpPr/>
          <p:nvPr/>
        </p:nvSpPr>
        <p:spPr>
          <a:xfrm>
            <a:off x="7799832" y="1389888"/>
            <a:ext cx="3739896" cy="164592"/>
          </a:xfrm>
          <a:prstGeom prst="rect">
            <a:avLst/>
          </a:prstGeom>
          <a:noFill/>
          <a:ln/>
        </p:spPr>
        <p:txBody>
          <a:bodyPr wrap="square" lIns="0" tIns="0" rIns="0" bIns="0" rtlCol="0" anchor="ctr"/>
          <a:lstStyle/>
          <a:p>
            <a:pPr marL="0" indent="0">
              <a:buNone/>
            </a:pPr>
            <a:r>
              <a:rPr lang="en-US" sz="850" b="1" kern="0" spc="70" dirty="0">
                <a:solidFill>
                  <a:srgbClr val="5417A8"/>
                </a:solidFill>
              </a:rPr>
              <a:t>COLLEGE</a:t>
            </a:r>
            <a:endParaRPr lang="en-US" sz="850" dirty="0"/>
          </a:p>
        </p:txBody>
      </p:sp>
      <p:sp>
        <p:nvSpPr>
          <p:cNvPr id="12" name="Text 10">
            <a:extLst>
              <a:ext uri="{FF2B5EF4-FFF2-40B4-BE49-F238E27FC236}">
                <a16:creationId xmlns:a16="http://schemas.microsoft.com/office/drawing/2014/main" id="{18BAB699-72FC-A681-8C0C-72043C517529}"/>
              </a:ext>
            </a:extLst>
          </p:cNvPr>
          <p:cNvSpPr/>
          <p:nvPr/>
        </p:nvSpPr>
        <p:spPr>
          <a:xfrm>
            <a:off x="7799832" y="1655064"/>
            <a:ext cx="3739896" cy="448056"/>
          </a:xfrm>
          <a:prstGeom prst="rect">
            <a:avLst/>
          </a:prstGeom>
          <a:noFill/>
          <a:ln/>
        </p:spPr>
        <p:txBody>
          <a:bodyPr wrap="square" lIns="254" tIns="254" rIns="254" bIns="254" rtlCol="0" anchor="ctr">
            <a:normAutofit/>
          </a:bodyPr>
          <a:lstStyle/>
          <a:p>
            <a:pPr marL="0" indent="0">
              <a:buNone/>
            </a:pPr>
            <a:r>
              <a:rPr lang="en-US" sz="1200" i="1" dirty="0">
                <a:solidFill>
                  <a:srgbClr val="7A8793"/>
                </a:solidFill>
              </a:rPr>
              <a:t>[College name | City]</a:t>
            </a:r>
            <a:endParaRPr lang="en-US" sz="1200" dirty="0"/>
          </a:p>
        </p:txBody>
      </p:sp>
      <p:sp>
        <p:nvSpPr>
          <p:cNvPr id="13" name="Shape 11">
            <a:extLst>
              <a:ext uri="{FF2B5EF4-FFF2-40B4-BE49-F238E27FC236}">
                <a16:creationId xmlns:a16="http://schemas.microsoft.com/office/drawing/2014/main" id="{53770BAD-2716-4762-7A11-4FAEBA04353A}"/>
              </a:ext>
            </a:extLst>
          </p:cNvPr>
          <p:cNvSpPr/>
          <p:nvPr/>
        </p:nvSpPr>
        <p:spPr>
          <a:xfrm>
            <a:off x="7635240" y="2395728"/>
            <a:ext cx="4069080" cy="1051560"/>
          </a:xfrm>
          <a:prstGeom prst="roundRect">
            <a:avLst>
              <a:gd name="adj" fmla="val 4348"/>
            </a:avLst>
          </a:prstGeom>
          <a:solidFill>
            <a:srgbClr val="FFFFFF"/>
          </a:solidFill>
          <a:ln w="12700">
            <a:solidFill>
              <a:srgbClr val="DCE5EC"/>
            </a:solidFill>
            <a:prstDash val="solid"/>
          </a:ln>
          <a:effectLst/>
        </p:spPr>
        <p:txBody>
          <a:bodyPr/>
          <a:lstStyle/>
          <a:p>
            <a:endParaRPr lang="en-US"/>
          </a:p>
        </p:txBody>
      </p:sp>
      <p:sp>
        <p:nvSpPr>
          <p:cNvPr id="14" name="Text 12">
            <a:extLst>
              <a:ext uri="{FF2B5EF4-FFF2-40B4-BE49-F238E27FC236}">
                <a16:creationId xmlns:a16="http://schemas.microsoft.com/office/drawing/2014/main" id="{AE70026C-EA6C-6AEB-1F32-DC1449CBB31E}"/>
              </a:ext>
            </a:extLst>
          </p:cNvPr>
          <p:cNvSpPr/>
          <p:nvPr/>
        </p:nvSpPr>
        <p:spPr>
          <a:xfrm>
            <a:off x="7799832" y="2523744"/>
            <a:ext cx="3739896" cy="164592"/>
          </a:xfrm>
          <a:prstGeom prst="rect">
            <a:avLst/>
          </a:prstGeom>
          <a:noFill/>
          <a:ln/>
        </p:spPr>
        <p:txBody>
          <a:bodyPr wrap="square" lIns="0" tIns="0" rIns="0" bIns="0" rtlCol="0" anchor="ctr"/>
          <a:lstStyle/>
          <a:p>
            <a:pPr marL="0" indent="0">
              <a:buNone/>
            </a:pPr>
            <a:r>
              <a:rPr lang="en-US" sz="850" b="1" kern="0" spc="70" dirty="0">
                <a:solidFill>
                  <a:srgbClr val="F28C28"/>
                </a:solidFill>
              </a:rPr>
              <a:t>TEAM MEMBERS</a:t>
            </a:r>
            <a:endParaRPr lang="en-US" sz="850" dirty="0"/>
          </a:p>
        </p:txBody>
      </p:sp>
      <p:sp>
        <p:nvSpPr>
          <p:cNvPr id="15" name="Text 13">
            <a:extLst>
              <a:ext uri="{FF2B5EF4-FFF2-40B4-BE49-F238E27FC236}">
                <a16:creationId xmlns:a16="http://schemas.microsoft.com/office/drawing/2014/main" id="{0B53965F-8EB4-9570-D88A-5B5E958088E1}"/>
              </a:ext>
            </a:extLst>
          </p:cNvPr>
          <p:cNvSpPr/>
          <p:nvPr/>
        </p:nvSpPr>
        <p:spPr>
          <a:xfrm>
            <a:off x="7799832" y="2788920"/>
            <a:ext cx="3739896" cy="539496"/>
          </a:xfrm>
          <a:prstGeom prst="rect">
            <a:avLst/>
          </a:prstGeom>
          <a:noFill/>
          <a:ln/>
        </p:spPr>
        <p:txBody>
          <a:bodyPr wrap="square" lIns="254" tIns="254" rIns="254" bIns="254" rtlCol="0" anchor="ctr">
            <a:normAutofit/>
          </a:bodyPr>
          <a:lstStyle/>
          <a:p>
            <a:pPr marL="0" indent="0">
              <a:buNone/>
            </a:pPr>
            <a:r>
              <a:rPr lang="en-US" sz="1200" i="1" dirty="0">
                <a:solidFill>
                  <a:srgbClr val="7A8793"/>
                </a:solidFill>
              </a:rPr>
              <a:t>[Name 1]  •  [Name 2]  •  [Name 3]</a:t>
            </a:r>
            <a:endParaRPr lang="en-US" sz="1200" dirty="0"/>
          </a:p>
          <a:p>
            <a:pPr marL="0" indent="0">
              <a:buNone/>
            </a:pPr>
            <a:r>
              <a:rPr lang="en-US" sz="1200" i="1" dirty="0">
                <a:solidFill>
                  <a:srgbClr val="7A8793"/>
                </a:solidFill>
              </a:rPr>
              <a:t>[</a:t>
            </a:r>
            <a:endParaRPr lang="en-US" sz="1200" dirty="0"/>
          </a:p>
        </p:txBody>
      </p:sp>
      <p:sp>
        <p:nvSpPr>
          <p:cNvPr id="19" name="Shape 17">
            <a:extLst>
              <a:ext uri="{FF2B5EF4-FFF2-40B4-BE49-F238E27FC236}">
                <a16:creationId xmlns:a16="http://schemas.microsoft.com/office/drawing/2014/main" id="{A634997F-2956-81EC-37B8-43AB96F19087}"/>
              </a:ext>
            </a:extLst>
          </p:cNvPr>
          <p:cNvSpPr/>
          <p:nvPr/>
        </p:nvSpPr>
        <p:spPr>
          <a:xfrm>
            <a:off x="290509" y="3557016"/>
            <a:ext cx="4709160" cy="841248"/>
          </a:xfrm>
          <a:prstGeom prst="roundRect">
            <a:avLst>
              <a:gd name="adj" fmla="val 5435"/>
            </a:avLst>
          </a:prstGeom>
          <a:solidFill>
            <a:srgbClr val="FFFFFF"/>
          </a:solidFill>
          <a:ln w="12700">
            <a:solidFill>
              <a:srgbClr val="DCE5EC"/>
            </a:solidFill>
            <a:prstDash val="solid"/>
          </a:ln>
          <a:effectLst/>
        </p:spPr>
        <p:txBody>
          <a:bodyPr/>
          <a:lstStyle/>
          <a:p>
            <a:endParaRPr lang="en-US"/>
          </a:p>
        </p:txBody>
      </p:sp>
      <p:sp>
        <p:nvSpPr>
          <p:cNvPr id="20" name="Text 18">
            <a:extLst>
              <a:ext uri="{FF2B5EF4-FFF2-40B4-BE49-F238E27FC236}">
                <a16:creationId xmlns:a16="http://schemas.microsoft.com/office/drawing/2014/main" id="{84622B7B-239A-CE6B-DB89-A38E2DBB780D}"/>
              </a:ext>
            </a:extLst>
          </p:cNvPr>
          <p:cNvSpPr/>
          <p:nvPr/>
        </p:nvSpPr>
        <p:spPr>
          <a:xfrm>
            <a:off x="455101" y="3685032"/>
            <a:ext cx="4379976" cy="164592"/>
          </a:xfrm>
          <a:prstGeom prst="rect">
            <a:avLst/>
          </a:prstGeom>
          <a:noFill/>
          <a:ln/>
        </p:spPr>
        <p:txBody>
          <a:bodyPr wrap="square" lIns="0" tIns="0" rIns="0" bIns="0" rtlCol="0" anchor="ctr"/>
          <a:lstStyle/>
          <a:p>
            <a:pPr marL="0" indent="0">
              <a:buNone/>
            </a:pPr>
            <a:r>
              <a:rPr lang="en-US" sz="850" b="1" kern="0" spc="70" dirty="0">
                <a:solidFill>
                  <a:srgbClr val="007CC3"/>
                </a:solidFill>
              </a:rPr>
              <a:t>SELECTED PROBLEM STATEMENT</a:t>
            </a:r>
            <a:endParaRPr lang="en-US" sz="850" dirty="0"/>
          </a:p>
        </p:txBody>
      </p:sp>
      <p:sp>
        <p:nvSpPr>
          <p:cNvPr id="21" name="Text 19">
            <a:extLst>
              <a:ext uri="{FF2B5EF4-FFF2-40B4-BE49-F238E27FC236}">
                <a16:creationId xmlns:a16="http://schemas.microsoft.com/office/drawing/2014/main" id="{8D9DE2A7-5A43-E453-A85B-37D123EB5DAF}"/>
              </a:ext>
            </a:extLst>
          </p:cNvPr>
          <p:cNvSpPr/>
          <p:nvPr/>
        </p:nvSpPr>
        <p:spPr>
          <a:xfrm>
            <a:off x="455101" y="3950208"/>
            <a:ext cx="4379976" cy="329184"/>
          </a:xfrm>
          <a:prstGeom prst="rect">
            <a:avLst/>
          </a:prstGeom>
          <a:noFill/>
          <a:ln/>
        </p:spPr>
        <p:txBody>
          <a:bodyPr wrap="square" lIns="254" tIns="254" rIns="254" bIns="254" rtlCol="0" anchor="ctr">
            <a:normAutofit/>
          </a:bodyPr>
          <a:lstStyle/>
          <a:p>
            <a:pPr marL="0" indent="0">
              <a:buNone/>
            </a:pPr>
            <a:r>
              <a:rPr sz="1200" b="0" i="0">
                <a:solidFill>
                  <a:srgbClr val="1F2937"/>
                </a:solidFill>
              </a:rPr>
              <a:t>ET-03 · Agentic AI Guardrail Validator (Lane 6, Emerging Technologies)</a:t>
            </a:r>
            <a:endParaRPr lang="en-US" sz="1200" dirty="0"/>
          </a:p>
        </p:txBody>
      </p:sp>
      <p:grpSp>
        <p:nvGrpSpPr>
          <p:cNvPr id="30" name="Group 29">
            <a:extLst>
              <a:ext uri="{FF2B5EF4-FFF2-40B4-BE49-F238E27FC236}">
                <a16:creationId xmlns:a16="http://schemas.microsoft.com/office/drawing/2014/main" id="{61E5967C-DB75-3EAB-EFE9-2844FA56498A}"/>
              </a:ext>
            </a:extLst>
          </p:cNvPr>
          <p:cNvGrpSpPr/>
          <p:nvPr/>
        </p:nvGrpSpPr>
        <p:grpSpPr>
          <a:xfrm>
            <a:off x="7635240" y="3547872"/>
            <a:ext cx="2615184" cy="841248"/>
            <a:chOff x="7635240" y="3906737"/>
            <a:chExt cx="2615184" cy="841248"/>
          </a:xfrm>
        </p:grpSpPr>
        <p:sp>
          <p:nvSpPr>
            <p:cNvPr id="22" name="Shape 20">
              <a:extLst>
                <a:ext uri="{FF2B5EF4-FFF2-40B4-BE49-F238E27FC236}">
                  <a16:creationId xmlns:a16="http://schemas.microsoft.com/office/drawing/2014/main" id="{7BE944F7-38B5-64C7-930D-B72927FC746D}"/>
                </a:ext>
              </a:extLst>
            </p:cNvPr>
            <p:cNvSpPr/>
            <p:nvPr/>
          </p:nvSpPr>
          <p:spPr>
            <a:xfrm>
              <a:off x="7635240" y="3906737"/>
              <a:ext cx="2615184" cy="841248"/>
            </a:xfrm>
            <a:prstGeom prst="roundRect">
              <a:avLst>
                <a:gd name="adj" fmla="val 5435"/>
              </a:avLst>
            </a:prstGeom>
            <a:solidFill>
              <a:srgbClr val="FFFFFF"/>
            </a:solidFill>
            <a:ln w="12700">
              <a:solidFill>
                <a:srgbClr val="DCE5EC"/>
              </a:solidFill>
              <a:prstDash val="solid"/>
            </a:ln>
            <a:effectLst/>
          </p:spPr>
          <p:txBody>
            <a:bodyPr/>
            <a:lstStyle/>
            <a:p>
              <a:endParaRPr lang="en-US"/>
            </a:p>
          </p:txBody>
        </p:sp>
        <p:sp>
          <p:nvSpPr>
            <p:cNvPr id="23" name="Text 21">
              <a:extLst>
                <a:ext uri="{FF2B5EF4-FFF2-40B4-BE49-F238E27FC236}">
                  <a16:creationId xmlns:a16="http://schemas.microsoft.com/office/drawing/2014/main" id="{ADC5DEF7-8576-092D-9F96-DAD18B227F78}"/>
                </a:ext>
              </a:extLst>
            </p:cNvPr>
            <p:cNvSpPr/>
            <p:nvPr/>
          </p:nvSpPr>
          <p:spPr>
            <a:xfrm>
              <a:off x="7799832" y="4034753"/>
              <a:ext cx="2286000" cy="164592"/>
            </a:xfrm>
            <a:prstGeom prst="rect">
              <a:avLst/>
            </a:prstGeom>
            <a:noFill/>
            <a:ln/>
          </p:spPr>
          <p:txBody>
            <a:bodyPr wrap="square" lIns="0" tIns="0" rIns="0" bIns="0" rtlCol="0" anchor="ctr"/>
            <a:lstStyle/>
            <a:p>
              <a:pPr marL="0" indent="0">
                <a:buNone/>
              </a:pPr>
              <a:r>
                <a:rPr lang="en-US" sz="850" b="1" kern="0" spc="70" dirty="0">
                  <a:solidFill>
                    <a:srgbClr val="5417A8"/>
                  </a:solidFill>
                </a:rPr>
                <a:t>TECHNOLOGY TRACK</a:t>
              </a:r>
              <a:endParaRPr lang="en-US" sz="850" dirty="0"/>
            </a:p>
          </p:txBody>
        </p:sp>
        <p:sp>
          <p:nvSpPr>
            <p:cNvPr id="24" name="Text 22">
              <a:extLst>
                <a:ext uri="{FF2B5EF4-FFF2-40B4-BE49-F238E27FC236}">
                  <a16:creationId xmlns:a16="http://schemas.microsoft.com/office/drawing/2014/main" id="{E89A6BC1-C284-CB71-9496-E1F2258424E1}"/>
                </a:ext>
              </a:extLst>
            </p:cNvPr>
            <p:cNvSpPr/>
            <p:nvPr/>
          </p:nvSpPr>
          <p:spPr>
            <a:xfrm>
              <a:off x="7799832" y="4299929"/>
              <a:ext cx="2286000" cy="329184"/>
            </a:xfrm>
            <a:prstGeom prst="rect">
              <a:avLst/>
            </a:prstGeom>
            <a:noFill/>
            <a:ln/>
          </p:spPr>
          <p:txBody>
            <a:bodyPr wrap="square" lIns="254" tIns="254" rIns="254" bIns="254" rtlCol="0" anchor="ctr">
              <a:normAutofit/>
            </a:bodyPr>
            <a:lstStyle/>
            <a:p>
              <a:pPr marL="0" indent="0">
                <a:buNone/>
              </a:pPr>
              <a:r>
                <a:rPr sz="1100" b="0" i="0">
                  <a:solidFill>
                    <a:srgbClr val="1F2937"/>
                  </a:solidFill>
                </a:rPr>
                <a:t>Qualcomm Cloud AI Playground (AI Inference Suite) · UNO Q optional</a:t>
              </a:r>
              <a:endParaRPr lang="en-US" sz="1200" dirty="0"/>
            </a:p>
          </p:txBody>
        </p:sp>
      </p:grpSp>
      <p:sp>
        <p:nvSpPr>
          <p:cNvPr id="29" name="Slide Number Placeholder 0">
            <a:extLst>
              <a:ext uri="{FF2B5EF4-FFF2-40B4-BE49-F238E27FC236}">
                <a16:creationId xmlns:a16="http://schemas.microsoft.com/office/drawing/2014/main" id="{7F0826ED-9BAD-C2DB-5431-D299FF747B6E}"/>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a:t>
            </a:fld>
            <a:endParaRPr lang="en-US"/>
          </a:p>
        </p:txBody>
      </p:sp>
    </p:spTree>
    <p:extLst>
      <p:ext uri="{BB962C8B-B14F-4D97-AF65-F5344CB8AC3E}">
        <p14:creationId xmlns:p14="http://schemas.microsoft.com/office/powerpoint/2010/main" val="113922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052623C-23F0-F8E2-64EB-111E89A6EDBA}"/>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Problem Statement</a:t>
            </a:r>
            <a:endParaRPr lang="en-US" sz="2400" dirty="0"/>
          </a:p>
        </p:txBody>
      </p:sp>
      <p:sp>
        <p:nvSpPr>
          <p:cNvPr id="7" name="Text 6">
            <a:extLst>
              <a:ext uri="{FF2B5EF4-FFF2-40B4-BE49-F238E27FC236}">
                <a16:creationId xmlns:a16="http://schemas.microsoft.com/office/drawing/2014/main" id="{46B4950A-3E35-1583-F0FA-3FA18DF704FF}"/>
              </a:ext>
            </a:extLst>
          </p:cNvPr>
          <p:cNvSpPr/>
          <p:nvPr/>
        </p:nvSpPr>
        <p:spPr>
          <a:xfrm>
            <a:off x="713232" y="1243584"/>
            <a:ext cx="6483096" cy="164592"/>
          </a:xfrm>
          <a:prstGeom prst="rect">
            <a:avLst/>
          </a:prstGeom>
          <a:noFill/>
          <a:ln/>
        </p:spPr>
        <p:txBody>
          <a:bodyPr wrap="square" lIns="0" tIns="0" rIns="0" bIns="0" rtlCol="0" anchor="ctr"/>
          <a:lstStyle/>
          <a:p>
            <a:pPr marL="0" indent="0">
              <a:buNone/>
            </a:pPr>
            <a:r>
              <a:rPr lang="en-US" sz="850" b="1" kern="0" spc="70" dirty="0">
                <a:solidFill>
                  <a:srgbClr val="5417A8"/>
                </a:solidFill>
              </a:rPr>
              <a:t>ACTUAL PROBLEM STATEMENT</a:t>
            </a:r>
            <a:endParaRPr lang="en-US" sz="850" dirty="0"/>
          </a:p>
        </p:txBody>
      </p:sp>
      <p:sp>
        <p:nvSpPr>
          <p:cNvPr id="9" name="Text 7">
            <a:extLst>
              <a:ext uri="{FF2B5EF4-FFF2-40B4-BE49-F238E27FC236}">
                <a16:creationId xmlns:a16="http://schemas.microsoft.com/office/drawing/2014/main" id="{0C28330B-AECD-6684-FE9B-DCE13D39A099}"/>
              </a:ext>
            </a:extLst>
          </p:cNvPr>
          <p:cNvSpPr/>
          <p:nvPr/>
        </p:nvSpPr>
        <p:spPr>
          <a:xfrm>
            <a:off x="713232" y="1508760"/>
            <a:ext cx="6483096" cy="722376"/>
          </a:xfrm>
          <a:prstGeom prst="rect">
            <a:avLst/>
          </a:prstGeom>
          <a:noFill/>
          <a:ln/>
        </p:spPr>
        <p:txBody>
          <a:bodyPr wrap="square" lIns="254" tIns="254" rIns="254" bIns="254" rtlCol="0" anchor="ctr">
            <a:normAutofit/>
          </a:bodyPr>
          <a:lstStyle/>
          <a:p>
            <a:pPr marL="0" indent="0">
              <a:buNone/>
            </a:pPr>
            <a:r>
              <a:rPr sz="1350" b="0" i="0">
                <a:solidFill>
                  <a:srgbClr val="1F2937"/>
                </a:solidFill>
              </a:rPr>
              <a:t>“Check whether an AI agent’s planned action is </a:t>
            </a:r>
            <a:r>
              <a:rPr sz="1350" b="1" i="0">
                <a:solidFill>
                  <a:srgbClr val="1F2937"/>
                </a:solidFill>
              </a:rPr>
              <a:t>safe, authorized, explainable and reversible</a:t>
            </a:r>
            <a:r>
              <a:rPr sz="1350" b="0" i="0">
                <a:solidFill>
                  <a:srgbClr val="1F2937"/>
                </a:solidFill>
              </a:rPr>
              <a:t>.” MVP: agent action input → approve/block decision → guardrail explanation.</a:t>
            </a:r>
            <a:endParaRPr lang="en-US" sz="1900" dirty="0"/>
          </a:p>
        </p:txBody>
      </p:sp>
      <p:sp>
        <p:nvSpPr>
          <p:cNvPr id="11" name="Text 9">
            <a:extLst>
              <a:ext uri="{FF2B5EF4-FFF2-40B4-BE49-F238E27FC236}">
                <a16:creationId xmlns:a16="http://schemas.microsoft.com/office/drawing/2014/main" id="{E871A307-2145-F941-36B5-7FB8E48AF6A3}"/>
              </a:ext>
            </a:extLst>
          </p:cNvPr>
          <p:cNvSpPr/>
          <p:nvPr/>
        </p:nvSpPr>
        <p:spPr>
          <a:xfrm>
            <a:off x="7735824" y="1243584"/>
            <a:ext cx="3803904" cy="164592"/>
          </a:xfrm>
          <a:prstGeom prst="rect">
            <a:avLst/>
          </a:prstGeom>
          <a:noFill/>
          <a:ln/>
        </p:spPr>
        <p:txBody>
          <a:bodyPr wrap="square" lIns="0" tIns="0" rIns="0" bIns="0" rtlCol="0" anchor="ctr"/>
          <a:lstStyle/>
          <a:p>
            <a:pPr marL="0" indent="0">
              <a:buNone/>
            </a:pPr>
            <a:r>
              <a:rPr lang="en-US" sz="850" b="1" kern="0" spc="70" dirty="0">
                <a:solidFill>
                  <a:srgbClr val="F28C28"/>
                </a:solidFill>
              </a:rPr>
              <a:t>WHO IS AFFECTED?</a:t>
            </a:r>
            <a:endParaRPr lang="en-US" sz="850" dirty="0"/>
          </a:p>
        </p:txBody>
      </p:sp>
      <p:sp>
        <p:nvSpPr>
          <p:cNvPr id="13" name="Text 10">
            <a:extLst>
              <a:ext uri="{FF2B5EF4-FFF2-40B4-BE49-F238E27FC236}">
                <a16:creationId xmlns:a16="http://schemas.microsoft.com/office/drawing/2014/main" id="{0E1E736B-0A2D-B024-1EB0-12A200895AC2}"/>
              </a:ext>
            </a:extLst>
          </p:cNvPr>
          <p:cNvSpPr/>
          <p:nvPr/>
        </p:nvSpPr>
        <p:spPr>
          <a:xfrm>
            <a:off x="7735824" y="1508760"/>
            <a:ext cx="3803904" cy="402336"/>
          </a:xfrm>
          <a:prstGeom prst="rect">
            <a:avLst/>
          </a:prstGeom>
          <a:noFill/>
          <a:ln/>
        </p:spPr>
        <p:txBody>
          <a:bodyPr wrap="square" lIns="254" tIns="254" rIns="254" bIns="254" rtlCol="0" anchor="ctr">
            <a:normAutofit/>
          </a:bodyPr>
          <a:lstStyle/>
          <a:p>
            <a:pPr marL="0" indent="0">
              <a:buNone/>
            </a:pPr>
            <a:r>
              <a:rPr sz="1000" b="0" i="0">
                <a:solidFill>
                  <a:srgbClr val="1F2937"/>
                </a:solidFill>
              </a:rPr>
              <a:t>Enterprises letting agents act on DBs, email and payments: Infosys delivery teams, their BFSI/retail clients, security &amp; audit reviewers, and the customers whose data agents touch.</a:t>
            </a:r>
            <a:endParaRPr lang="en-US" sz="1200" dirty="0"/>
          </a:p>
        </p:txBody>
      </p:sp>
      <p:sp>
        <p:nvSpPr>
          <p:cNvPr id="15" name="Text 12">
            <a:extLst>
              <a:ext uri="{FF2B5EF4-FFF2-40B4-BE49-F238E27FC236}">
                <a16:creationId xmlns:a16="http://schemas.microsoft.com/office/drawing/2014/main" id="{9073DFEC-DABB-CC2B-0BA9-871FADDBD8B2}"/>
              </a:ext>
            </a:extLst>
          </p:cNvPr>
          <p:cNvSpPr/>
          <p:nvPr/>
        </p:nvSpPr>
        <p:spPr>
          <a:xfrm>
            <a:off x="7735824" y="2340864"/>
            <a:ext cx="3803904" cy="164592"/>
          </a:xfrm>
          <a:prstGeom prst="rect">
            <a:avLst/>
          </a:prstGeom>
          <a:noFill/>
          <a:ln/>
        </p:spPr>
        <p:txBody>
          <a:bodyPr wrap="square" lIns="0" tIns="0" rIns="0" bIns="0" rtlCol="0" anchor="ctr"/>
          <a:lstStyle/>
          <a:p>
            <a:pPr marL="0" indent="0">
              <a:buNone/>
            </a:pPr>
            <a:r>
              <a:rPr lang="en-US" sz="850" b="1" kern="0" spc="70" dirty="0">
                <a:solidFill>
                  <a:srgbClr val="63A845"/>
                </a:solidFill>
              </a:rPr>
              <a:t>WHY DOES IT MATTER?</a:t>
            </a:r>
            <a:endParaRPr lang="en-US" sz="850" dirty="0"/>
          </a:p>
        </p:txBody>
      </p:sp>
      <p:sp>
        <p:nvSpPr>
          <p:cNvPr id="17" name="Text 13">
            <a:extLst>
              <a:ext uri="{FF2B5EF4-FFF2-40B4-BE49-F238E27FC236}">
                <a16:creationId xmlns:a16="http://schemas.microsoft.com/office/drawing/2014/main" id="{42C115EF-03A4-A284-3C57-500DFF669693}"/>
              </a:ext>
            </a:extLst>
          </p:cNvPr>
          <p:cNvSpPr/>
          <p:nvPr/>
        </p:nvSpPr>
        <p:spPr>
          <a:xfrm>
            <a:off x="7735824" y="2606040"/>
            <a:ext cx="3803904" cy="402336"/>
          </a:xfrm>
          <a:prstGeom prst="rect">
            <a:avLst/>
          </a:prstGeom>
          <a:noFill/>
          <a:ln/>
        </p:spPr>
        <p:txBody>
          <a:bodyPr wrap="square" lIns="254" tIns="254" rIns="254" bIns="254" rtlCol="0" anchor="ctr">
            <a:normAutofit/>
          </a:bodyPr>
          <a:lstStyle/>
          <a:p>
            <a:pPr marL="0" indent="0">
              <a:buNone/>
            </a:pPr>
            <a:r>
              <a:rPr sz="1000" b="0" i="0">
                <a:solidFill>
                  <a:srgbClr val="1F2937"/>
                </a:solidFill>
              </a:rPr>
              <a:t>Agents now act: one bad call deletes, leaks or pays. Gartner: &gt;40% of agentic AI projects cancelled by 2027, citing inadequate risk controls. EU AI Act Art. 14 and RBI FREE-AI demand oversight + audit.</a:t>
            </a:r>
            <a:endParaRPr lang="en-US" sz="1200" dirty="0"/>
          </a:p>
        </p:txBody>
      </p:sp>
      <p:sp>
        <p:nvSpPr>
          <p:cNvPr id="19" name="Text 15">
            <a:extLst>
              <a:ext uri="{FF2B5EF4-FFF2-40B4-BE49-F238E27FC236}">
                <a16:creationId xmlns:a16="http://schemas.microsoft.com/office/drawing/2014/main" id="{6F43253D-9704-E340-ABBE-3C6F52C216CD}"/>
              </a:ext>
            </a:extLst>
          </p:cNvPr>
          <p:cNvSpPr/>
          <p:nvPr/>
        </p:nvSpPr>
        <p:spPr>
          <a:xfrm>
            <a:off x="713232" y="2706624"/>
            <a:ext cx="2889504" cy="164592"/>
          </a:xfrm>
          <a:prstGeom prst="rect">
            <a:avLst/>
          </a:prstGeom>
          <a:noFill/>
          <a:ln/>
        </p:spPr>
        <p:txBody>
          <a:bodyPr wrap="square" lIns="0" tIns="0" rIns="0" bIns="0" rtlCol="0" anchor="ctr"/>
          <a:lstStyle/>
          <a:p>
            <a:pPr marL="0" indent="0">
              <a:buNone/>
            </a:pPr>
            <a:r>
              <a:rPr lang="en-US" sz="850" b="1" kern="0" spc="70" dirty="0">
                <a:solidFill>
                  <a:srgbClr val="007CC3"/>
                </a:solidFill>
              </a:rPr>
              <a:t>CURRENT GAP / PAIN POINT</a:t>
            </a:r>
            <a:endParaRPr lang="en-US" sz="850" dirty="0"/>
          </a:p>
        </p:txBody>
      </p:sp>
      <p:sp>
        <p:nvSpPr>
          <p:cNvPr id="21" name="Text 16">
            <a:extLst>
              <a:ext uri="{FF2B5EF4-FFF2-40B4-BE49-F238E27FC236}">
                <a16:creationId xmlns:a16="http://schemas.microsoft.com/office/drawing/2014/main" id="{4B3CD632-0098-5E4B-5432-77CD2893CAF3}"/>
              </a:ext>
            </a:extLst>
          </p:cNvPr>
          <p:cNvSpPr/>
          <p:nvPr/>
        </p:nvSpPr>
        <p:spPr>
          <a:xfrm>
            <a:off x="713232" y="2971800"/>
            <a:ext cx="2889504" cy="832104"/>
          </a:xfrm>
          <a:prstGeom prst="rect">
            <a:avLst/>
          </a:prstGeom>
          <a:noFill/>
          <a:ln/>
        </p:spPr>
        <p:txBody>
          <a:bodyPr wrap="square" lIns="254" tIns="254" rIns="254" bIns="254" rtlCol="0" anchor="ctr">
            <a:normAutofit/>
          </a:bodyPr>
          <a:lstStyle/>
          <a:p>
            <a:pPr marL="0" indent="0">
              <a:buNone/>
            </a:pPr>
            <a:r>
              <a:rPr sz="950" b="0" i="0">
                <a:solidFill>
                  <a:srgbClr val="1F2937"/>
                </a:solidFill>
              </a:rPr>
              <a:t>Guardrails gate by </a:t>
            </a:r>
            <a:r>
              <a:rPr sz="950" b="1" i="0">
                <a:solidFill>
                  <a:srgbClr val="1F2937"/>
                </a:solidFill>
              </a:rPr>
              <a:t>tool type or text</a:t>
            </a:r>
            <a:r>
              <a:rPr sz="950" b="0" i="0">
                <a:solidFill>
                  <a:srgbClr val="1F2937"/>
                </a:solidFill>
              </a:rPr>
              <a:t>, or ask </a:t>
            </a:r>
            <a:r>
              <a:rPr sz="950" b="1" i="0">
                <a:solidFill>
                  <a:srgbClr val="1F2937"/>
                </a:solidFill>
              </a:rPr>
              <a:t>another LLM</a:t>
            </a:r>
            <a:r>
              <a:rPr sz="950" b="0" i="0">
                <a:solidFill>
                  <a:srgbClr val="1F2937"/>
                </a:solidFill>
              </a:rPr>
              <a:t>; none measure what this call will do. In AmPermBench, </a:t>
            </a:r>
            <a:r>
              <a:rPr sz="950" b="1" i="0">
                <a:solidFill>
                  <a:srgbClr val="1F2937"/>
                </a:solidFill>
              </a:rPr>
              <a:t>36.8%</a:t>
            </a:r>
            <a:r>
              <a:rPr sz="950" b="0" i="0">
                <a:solidFill>
                  <a:srgbClr val="1F2937"/>
                </a:solidFill>
              </a:rPr>
              <a:t> of state changes never reached Claude Code’s classifier.</a:t>
            </a:r>
            <a:endParaRPr lang="en-US" sz="1200" dirty="0"/>
          </a:p>
          <a:p>
            <a:pPr marL="0" indent="0">
              <a:buNone/>
            </a:pPr>
            <a:r>
              <a:rPr sz="950" b="0" i="0">
                <a:solidFill>
                  <a:srgbClr val="1F2937"/>
                </a:solidFill>
              </a:rPr>
              <a:t>Manual approval (Tool Interrupt) does not scale, so users pick “always allow”.</a:t>
            </a:r>
          </a:p>
        </p:txBody>
      </p:sp>
      <p:sp>
        <p:nvSpPr>
          <p:cNvPr id="23" name="Text 18">
            <a:extLst>
              <a:ext uri="{FF2B5EF4-FFF2-40B4-BE49-F238E27FC236}">
                <a16:creationId xmlns:a16="http://schemas.microsoft.com/office/drawing/2014/main" id="{05F37750-2660-1AD0-F71B-75255FDEFAB9}"/>
              </a:ext>
            </a:extLst>
          </p:cNvPr>
          <p:cNvSpPr/>
          <p:nvPr/>
        </p:nvSpPr>
        <p:spPr>
          <a:xfrm>
            <a:off x="4123944" y="2706624"/>
            <a:ext cx="3072384" cy="164592"/>
          </a:xfrm>
          <a:prstGeom prst="rect">
            <a:avLst/>
          </a:prstGeom>
          <a:noFill/>
          <a:ln/>
        </p:spPr>
        <p:txBody>
          <a:bodyPr wrap="square" lIns="0" tIns="0" rIns="0" bIns="0" rtlCol="0" anchor="ctr"/>
          <a:lstStyle/>
          <a:p>
            <a:pPr marL="0" indent="0">
              <a:buNone/>
            </a:pPr>
            <a:r>
              <a:rPr lang="en-US" sz="850" b="1" kern="0" spc="70" dirty="0">
                <a:solidFill>
                  <a:srgbClr val="F28C28"/>
                </a:solidFill>
              </a:rPr>
              <a:t>EVIDENCE / SCENARIO</a:t>
            </a:r>
            <a:endParaRPr lang="en-US" sz="850" dirty="0"/>
          </a:p>
        </p:txBody>
      </p:sp>
      <p:sp>
        <p:nvSpPr>
          <p:cNvPr id="25" name="Text 19">
            <a:extLst>
              <a:ext uri="{FF2B5EF4-FFF2-40B4-BE49-F238E27FC236}">
                <a16:creationId xmlns:a16="http://schemas.microsoft.com/office/drawing/2014/main" id="{824B9B85-9810-1D16-1FED-578C00F4DF52}"/>
              </a:ext>
            </a:extLst>
          </p:cNvPr>
          <p:cNvSpPr/>
          <p:nvPr/>
        </p:nvSpPr>
        <p:spPr>
          <a:xfrm>
            <a:off x="4123944" y="2971800"/>
            <a:ext cx="3072384" cy="832104"/>
          </a:xfrm>
          <a:prstGeom prst="rect">
            <a:avLst/>
          </a:prstGeom>
          <a:noFill/>
          <a:ln/>
        </p:spPr>
        <p:txBody>
          <a:bodyPr wrap="square" lIns="254" tIns="254" rIns="254" bIns="254" rtlCol="0" anchor="ctr">
            <a:normAutofit/>
          </a:bodyPr>
          <a:lstStyle/>
          <a:p>
            <a:pPr marL="0" indent="0">
              <a:buNone/>
            </a:pPr>
            <a:r>
              <a:rPr sz="950" b="1" i="0">
                <a:solidFill>
                  <a:srgbClr val="1F2937"/>
                </a:solidFill>
              </a:rPr>
              <a:t>EchoLeak</a:t>
            </a:r>
            <a:r>
              <a:rPr sz="950" b="0" i="0">
                <a:solidFill>
                  <a:srgbClr val="1F2937"/>
                </a:solidFill>
              </a:rPr>
              <a:t> CVE-2025-32711: zero-click exfiltration via one email.</a:t>
            </a:r>
            <a:endParaRPr lang="en-US" sz="1200" dirty="0"/>
          </a:p>
          <a:p>
            <a:pPr marL="0" indent="0">
              <a:buNone/>
            </a:pPr>
            <a:r>
              <a:rPr sz="950" b="1" i="0">
                <a:solidFill>
                  <a:srgbClr val="1F2937"/>
                </a:solidFill>
              </a:rPr>
              <a:t>GitHub MCP</a:t>
            </a:r>
            <a:r>
              <a:rPr sz="950" b="0" i="0">
                <a:solidFill>
                  <a:srgbClr val="1F2937"/>
                </a:solidFill>
              </a:rPr>
              <a:t>: a public issue made an agent leak private repos.</a:t>
            </a:r>
          </a:p>
          <a:p>
            <a:pPr marL="0" indent="0">
              <a:buNone/>
            </a:pPr>
            <a:r>
              <a:rPr sz="950" b="1" i="0">
                <a:solidFill>
                  <a:srgbClr val="1F2937"/>
                </a:solidFill>
              </a:rPr>
              <a:t>Replit</a:t>
            </a:r>
            <a:r>
              <a:rPr sz="950" b="0" i="0">
                <a:solidFill>
                  <a:srgbClr val="1F2937"/>
                </a:solidFill>
              </a:rPr>
              <a:t>: agent wiped a prod DB during a code freeze, then said rollback was impossible.</a:t>
            </a:r>
          </a:p>
          <a:p>
            <a:pPr marL="0" indent="0">
              <a:buNone/>
            </a:pPr>
            <a:r>
              <a:rPr sz="950" b="0" i="0">
                <a:solidFill>
                  <a:srgbClr val="1F2937"/>
                </a:solidFill>
              </a:rPr>
              <a:t>Llama-3.3-70B had the </a:t>
            </a:r>
            <a:r>
              <a:rPr sz="950" b="1" i="0">
                <a:solidFill>
                  <a:srgbClr val="1F2937"/>
                </a:solidFill>
              </a:rPr>
              <a:t>highest attack success rate (6.49%)</a:t>
            </a:r>
            <a:r>
              <a:rPr sz="950" b="0" i="0">
                <a:solidFill>
                  <a:srgbClr val="1F2937"/>
                </a:solidFill>
              </a:rPr>
              <a:t> in the UK AISI × Gray Swan red-team challenge.</a:t>
            </a:r>
          </a:p>
        </p:txBody>
      </p:sp>
      <p:sp>
        <p:nvSpPr>
          <p:cNvPr id="27" name="Text 21">
            <a:extLst>
              <a:ext uri="{FF2B5EF4-FFF2-40B4-BE49-F238E27FC236}">
                <a16:creationId xmlns:a16="http://schemas.microsoft.com/office/drawing/2014/main" id="{C355BF79-944B-C7CD-13BE-B68144B0EC3D}"/>
              </a:ext>
            </a:extLst>
          </p:cNvPr>
          <p:cNvSpPr/>
          <p:nvPr/>
        </p:nvSpPr>
        <p:spPr>
          <a:xfrm>
            <a:off x="7735824" y="3438144"/>
            <a:ext cx="3803904" cy="164592"/>
          </a:xfrm>
          <a:prstGeom prst="rect">
            <a:avLst/>
          </a:prstGeom>
          <a:noFill/>
          <a:ln/>
        </p:spPr>
        <p:txBody>
          <a:bodyPr wrap="square" lIns="0" tIns="0" rIns="0" bIns="0" rtlCol="0" anchor="ctr"/>
          <a:lstStyle/>
          <a:p>
            <a:pPr marL="0" indent="0">
              <a:buNone/>
            </a:pPr>
            <a:r>
              <a:rPr lang="en-US" sz="850" b="1" kern="0" spc="70" dirty="0">
                <a:solidFill>
                  <a:srgbClr val="5417A8"/>
                </a:solidFill>
              </a:rPr>
              <a:t>SUCCESS DEFINITION</a:t>
            </a:r>
            <a:endParaRPr lang="en-US" sz="850" dirty="0"/>
          </a:p>
        </p:txBody>
      </p:sp>
      <p:sp>
        <p:nvSpPr>
          <p:cNvPr id="29" name="Text 22">
            <a:extLst>
              <a:ext uri="{FF2B5EF4-FFF2-40B4-BE49-F238E27FC236}">
                <a16:creationId xmlns:a16="http://schemas.microsoft.com/office/drawing/2014/main" id="{C74A84FE-3AA0-3CCB-062C-D940850ADC68}"/>
              </a:ext>
            </a:extLst>
          </p:cNvPr>
          <p:cNvSpPr/>
          <p:nvPr/>
        </p:nvSpPr>
        <p:spPr>
          <a:xfrm>
            <a:off x="7735824" y="3703320"/>
            <a:ext cx="3803904" cy="832104"/>
          </a:xfrm>
          <a:prstGeom prst="rect">
            <a:avLst/>
          </a:prstGeom>
          <a:noFill/>
          <a:ln/>
        </p:spPr>
        <p:txBody>
          <a:bodyPr wrap="square" lIns="254" tIns="254" rIns="254" bIns="254" rtlCol="0" anchor="ctr">
            <a:normAutofit/>
          </a:bodyPr>
          <a:lstStyle/>
          <a:p>
            <a:pPr marL="0" indent="0">
              <a:buNone/>
            </a:pPr>
            <a:r>
              <a:rPr sz="1000" b="0" i="0">
                <a:solidFill>
                  <a:srgbClr val="1F2937"/>
                </a:solidFill>
              </a:rPr>
              <a:t>≤ 1% unsafe actions auto-executed, 0% injection success, ≥ 65% of safe actions run without a human, every decision explained with a tamper-evident receipt, &lt; 5 ms decision latency.</a:t>
            </a:r>
            <a:endParaRPr lang="en-US" sz="1200" dirty="0"/>
          </a:p>
          <a:p>
            <a:pPr marL="0" indent="0">
              <a:buNone/>
            </a:pPr>
            <a:r>
              <a:rPr sz="1000" b="0" i="0">
                <a:solidFill>
                  <a:srgbClr val="1F2937"/>
                </a:solidFill>
              </a:rPr>
              <a:t>Measured: </a:t>
            </a:r>
            <a:r>
              <a:rPr sz="1000" b="1" i="0">
                <a:solidFill>
                  <a:srgbClr val="1F2937"/>
                </a:solidFill>
              </a:rPr>
              <a:t>0.5%</a:t>
            </a:r>
            <a:r>
              <a:rPr sz="1000" b="0" i="0">
                <a:solidFill>
                  <a:srgbClr val="1F2937"/>
                </a:solidFill>
              </a:rPr>
              <a:t> unsafe auto-allowed, </a:t>
            </a:r>
            <a:r>
              <a:rPr sz="1000" b="1" i="0">
                <a:solidFill>
                  <a:srgbClr val="1F2937"/>
                </a:solidFill>
              </a:rPr>
              <a:t>0%</a:t>
            </a:r>
            <a:r>
              <a:rPr sz="1000" b="0" i="0">
                <a:solidFill>
                  <a:srgbClr val="1F2937"/>
                </a:solidFill>
              </a:rPr>
              <a:t> injection ASR, </a:t>
            </a:r>
            <a:r>
              <a:rPr sz="1000" b="1" i="0">
                <a:solidFill>
                  <a:srgbClr val="1F2937"/>
                </a:solidFill>
              </a:rPr>
              <a:t>68%</a:t>
            </a:r>
            <a:r>
              <a:rPr sz="1000" b="0" i="0">
                <a:solidFill>
                  <a:srgbClr val="1F2937"/>
                </a:solidFill>
              </a:rPr>
              <a:t> safe auto-completed, p95 2.3 ms (mean of 5 seeds).</a:t>
            </a:r>
          </a:p>
        </p:txBody>
      </p:sp>
    </p:spTree>
    <p:extLst>
      <p:ext uri="{BB962C8B-B14F-4D97-AF65-F5344CB8AC3E}">
        <p14:creationId xmlns:p14="http://schemas.microsoft.com/office/powerpoint/2010/main" val="164864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0">
            <a:extLst>
              <a:ext uri="{FF2B5EF4-FFF2-40B4-BE49-F238E27FC236}">
                <a16:creationId xmlns:a16="http://schemas.microsoft.com/office/drawing/2014/main" id="{C67777A0-5038-444E-6934-D05CAB3438E6}"/>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Proposed Solution</a:t>
            </a:r>
            <a:endParaRPr lang="en-US" sz="2400" dirty="0"/>
          </a:p>
        </p:txBody>
      </p:sp>
      <p:sp>
        <p:nvSpPr>
          <p:cNvPr id="19" name="Text 3">
            <a:extLst>
              <a:ext uri="{FF2B5EF4-FFF2-40B4-BE49-F238E27FC236}">
                <a16:creationId xmlns:a16="http://schemas.microsoft.com/office/drawing/2014/main" id="{A1441BD2-AB6B-3DF0-0186-49A3CEED3D65}"/>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0:55</a:t>
            </a:r>
            <a:endParaRPr lang="en-US" sz="850" dirty="0"/>
          </a:p>
        </p:txBody>
      </p:sp>
      <p:sp>
        <p:nvSpPr>
          <p:cNvPr id="21" name="Shape 5">
            <a:extLst>
              <a:ext uri="{FF2B5EF4-FFF2-40B4-BE49-F238E27FC236}">
                <a16:creationId xmlns:a16="http://schemas.microsoft.com/office/drawing/2014/main" id="{02F5BF56-0B35-42DC-FC64-F0F7939FA4C0}"/>
              </a:ext>
            </a:extLst>
          </p:cNvPr>
          <p:cNvSpPr/>
          <p:nvPr/>
        </p:nvSpPr>
        <p:spPr>
          <a:xfrm>
            <a:off x="548640" y="1097280"/>
            <a:ext cx="10930128" cy="777240"/>
          </a:xfrm>
          <a:prstGeom prst="roundRect">
            <a:avLst>
              <a:gd name="adj" fmla="val 5882"/>
            </a:avLst>
          </a:prstGeom>
          <a:solidFill>
            <a:srgbClr val="FFFFFF"/>
          </a:solidFill>
          <a:ln w="12700">
            <a:solidFill>
              <a:srgbClr val="DCE5EC"/>
            </a:solidFill>
            <a:prstDash val="solid"/>
          </a:ln>
          <a:effectLst/>
        </p:spPr>
        <p:txBody>
          <a:bodyPr/>
          <a:lstStyle/>
          <a:p>
            <a:endParaRPr lang="en-US"/>
          </a:p>
        </p:txBody>
      </p:sp>
      <p:sp>
        <p:nvSpPr>
          <p:cNvPr id="22" name="Text 6">
            <a:extLst>
              <a:ext uri="{FF2B5EF4-FFF2-40B4-BE49-F238E27FC236}">
                <a16:creationId xmlns:a16="http://schemas.microsoft.com/office/drawing/2014/main" id="{FE4182E2-5F1E-299E-4614-A89A59E0015E}"/>
              </a:ext>
            </a:extLst>
          </p:cNvPr>
          <p:cNvSpPr/>
          <p:nvPr/>
        </p:nvSpPr>
        <p:spPr>
          <a:xfrm>
            <a:off x="713232" y="1225296"/>
            <a:ext cx="10826496" cy="164592"/>
          </a:xfrm>
          <a:prstGeom prst="rect">
            <a:avLst/>
          </a:prstGeom>
          <a:noFill/>
          <a:ln/>
        </p:spPr>
        <p:txBody>
          <a:bodyPr wrap="square" lIns="0" tIns="0" rIns="0" bIns="0" rtlCol="0" anchor="ctr"/>
          <a:lstStyle/>
          <a:p>
            <a:pPr marL="0" indent="0">
              <a:buNone/>
            </a:pPr>
            <a:r>
              <a:rPr lang="en-US" sz="850" b="1" kern="0" spc="70" dirty="0">
                <a:solidFill>
                  <a:srgbClr val="007CC3"/>
                </a:solidFill>
              </a:rPr>
              <a:t>SOLUTION IN ONE SENTENCE</a:t>
            </a:r>
            <a:endParaRPr lang="en-US" sz="850" dirty="0"/>
          </a:p>
        </p:txBody>
      </p:sp>
      <p:sp>
        <p:nvSpPr>
          <p:cNvPr id="23" name="Text 7">
            <a:extLst>
              <a:ext uri="{FF2B5EF4-FFF2-40B4-BE49-F238E27FC236}">
                <a16:creationId xmlns:a16="http://schemas.microsoft.com/office/drawing/2014/main" id="{A8AE62DF-DB97-F3CF-1EC2-0ACDD449B30C}"/>
              </a:ext>
            </a:extLst>
          </p:cNvPr>
          <p:cNvSpPr/>
          <p:nvPr/>
        </p:nvSpPr>
        <p:spPr>
          <a:xfrm>
            <a:off x="713232" y="1490472"/>
            <a:ext cx="10826496" cy="265176"/>
          </a:xfrm>
          <a:prstGeom prst="rect">
            <a:avLst/>
          </a:prstGeom>
          <a:noFill/>
          <a:ln/>
        </p:spPr>
        <p:txBody>
          <a:bodyPr wrap="square" lIns="254" tIns="254" rIns="254" bIns="254" rtlCol="0" anchor="ctr">
            <a:normAutofit lnSpcReduction="10000"/>
          </a:bodyPr>
          <a:lstStyle/>
          <a:p>
            <a:pPr marL="0" indent="0">
              <a:buNone/>
            </a:pPr>
            <a:r>
              <a:rPr sz="1250" b="0" i="0">
                <a:solidFill>
                  <a:srgbClr val="1F2937"/>
                </a:solidFill>
              </a:rPr>
              <a:t>KAVACH uses deterministic policy, provenance tracking, sandboxed consequence analysis and a calibrated risk model to let AI agents act on their own, while blocking or escalating every unsafe action with an auditable receipt.</a:t>
            </a:r>
            <a:endParaRPr lang="en-US" sz="1900" dirty="0"/>
          </a:p>
        </p:txBody>
      </p:sp>
      <p:sp>
        <p:nvSpPr>
          <p:cNvPr id="24" name="Shape 8">
            <a:extLst>
              <a:ext uri="{FF2B5EF4-FFF2-40B4-BE49-F238E27FC236}">
                <a16:creationId xmlns:a16="http://schemas.microsoft.com/office/drawing/2014/main" id="{371B941B-C86F-0BE1-920C-2A9E692B7C56}"/>
              </a:ext>
            </a:extLst>
          </p:cNvPr>
          <p:cNvSpPr/>
          <p:nvPr/>
        </p:nvSpPr>
        <p:spPr>
          <a:xfrm>
            <a:off x="658368" y="2121408"/>
            <a:ext cx="3319272" cy="1993392"/>
          </a:xfrm>
          <a:prstGeom prst="roundRect">
            <a:avLst>
              <a:gd name="adj" fmla="val 2294"/>
            </a:avLst>
          </a:prstGeom>
          <a:solidFill>
            <a:srgbClr val="EAF7FD"/>
          </a:solidFill>
          <a:ln w="15240">
            <a:solidFill>
              <a:srgbClr val="00AEEF"/>
            </a:solidFill>
            <a:prstDash val="solid"/>
          </a:ln>
        </p:spPr>
        <p:txBody>
          <a:bodyPr/>
          <a:lstStyle/>
          <a:p>
            <a:endParaRPr lang="en-US"/>
          </a:p>
        </p:txBody>
      </p:sp>
      <p:sp>
        <p:nvSpPr>
          <p:cNvPr id="25" name="Shape 9">
            <a:extLst>
              <a:ext uri="{FF2B5EF4-FFF2-40B4-BE49-F238E27FC236}">
                <a16:creationId xmlns:a16="http://schemas.microsoft.com/office/drawing/2014/main" id="{34A98571-1AFC-F292-9D09-AD0A4A068AE6}"/>
              </a:ext>
            </a:extLst>
          </p:cNvPr>
          <p:cNvSpPr/>
          <p:nvPr/>
        </p:nvSpPr>
        <p:spPr>
          <a:xfrm>
            <a:off x="822960" y="2313432"/>
            <a:ext cx="420624" cy="420624"/>
          </a:xfrm>
          <a:prstGeom prst="ellipse">
            <a:avLst/>
          </a:prstGeom>
          <a:solidFill>
            <a:srgbClr val="007CC3"/>
          </a:solidFill>
          <a:ln w="12700">
            <a:solidFill>
              <a:srgbClr val="FFFFFF">
                <a:alpha val="0"/>
              </a:srgbClr>
            </a:solidFill>
            <a:prstDash val="solid"/>
          </a:ln>
        </p:spPr>
        <p:txBody>
          <a:bodyPr/>
          <a:lstStyle/>
          <a:p>
            <a:endParaRPr lang="en-US"/>
          </a:p>
        </p:txBody>
      </p:sp>
      <p:sp>
        <p:nvSpPr>
          <p:cNvPr id="26" name="Text 10">
            <a:extLst>
              <a:ext uri="{FF2B5EF4-FFF2-40B4-BE49-F238E27FC236}">
                <a16:creationId xmlns:a16="http://schemas.microsoft.com/office/drawing/2014/main" id="{60C7AF9D-3541-089A-5E6B-56FCA466CCA5}"/>
              </a:ext>
            </a:extLst>
          </p:cNvPr>
          <p:cNvSpPr/>
          <p:nvPr/>
        </p:nvSpPr>
        <p:spPr>
          <a:xfrm>
            <a:off x="822960" y="2423160"/>
            <a:ext cx="420624" cy="10972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7" name="Text 11">
            <a:extLst>
              <a:ext uri="{FF2B5EF4-FFF2-40B4-BE49-F238E27FC236}">
                <a16:creationId xmlns:a16="http://schemas.microsoft.com/office/drawing/2014/main" id="{0C1F7D41-1CDE-9DAC-EBC0-815C1D289558}"/>
              </a:ext>
            </a:extLst>
          </p:cNvPr>
          <p:cNvSpPr/>
          <p:nvPr/>
        </p:nvSpPr>
        <p:spPr>
          <a:xfrm>
            <a:off x="1371600" y="2340864"/>
            <a:ext cx="2286000" cy="219456"/>
          </a:xfrm>
          <a:prstGeom prst="rect">
            <a:avLst/>
          </a:prstGeom>
          <a:noFill/>
          <a:ln/>
        </p:spPr>
        <p:txBody>
          <a:bodyPr wrap="square" lIns="0" tIns="0" rIns="0" bIns="0" rtlCol="0" anchor="ctr"/>
          <a:lstStyle/>
          <a:p>
            <a:pPr marL="0" indent="0">
              <a:buNone/>
            </a:pPr>
            <a:r>
              <a:rPr lang="en-US" sz="1200" b="1" dirty="0">
                <a:solidFill>
                  <a:srgbClr val="111827"/>
                </a:solidFill>
              </a:rPr>
              <a:t>INPUT</a:t>
            </a:r>
            <a:endParaRPr lang="en-US" sz="1200" dirty="0"/>
          </a:p>
        </p:txBody>
      </p:sp>
      <p:sp>
        <p:nvSpPr>
          <p:cNvPr id="28" name="Text 12">
            <a:extLst>
              <a:ext uri="{FF2B5EF4-FFF2-40B4-BE49-F238E27FC236}">
                <a16:creationId xmlns:a16="http://schemas.microsoft.com/office/drawing/2014/main" id="{98E5604C-41B6-CF70-B0D8-4244465C2130}"/>
              </a:ext>
            </a:extLst>
          </p:cNvPr>
          <p:cNvSpPr/>
          <p:nvPr/>
        </p:nvSpPr>
        <p:spPr>
          <a:xfrm>
            <a:off x="841248" y="2889504"/>
            <a:ext cx="2944368" cy="832104"/>
          </a:xfrm>
          <a:prstGeom prst="rect">
            <a:avLst/>
          </a:prstGeom>
          <a:noFill/>
          <a:ln/>
        </p:spPr>
        <p:txBody>
          <a:bodyPr wrap="square" lIns="381" tIns="381" rIns="381" bIns="381" rtlCol="0" anchor="ctr">
            <a:normAutofit/>
          </a:bodyPr>
          <a:lstStyle/>
          <a:p>
            <a:pPr marL="0" indent="0">
              <a:buNone/>
            </a:pPr>
            <a:r>
              <a:rPr sz="1050" b="0" i="0">
                <a:solidFill>
                  <a:srgbClr val="1F2937"/>
                </a:solidFill>
              </a:rPr>
              <a:t>The agent’s </a:t>
            </a:r>
            <a:r>
              <a:rPr sz="1050" b="1" i="0">
                <a:solidFill>
                  <a:srgbClr val="1F2937"/>
                </a:solidFill>
              </a:rPr>
              <a:t>plan</a:t>
            </a:r>
            <a:r>
              <a:rPr sz="1050" b="0" i="0">
                <a:solidFill>
                  <a:srgbClr val="1F2937"/>
                </a:solidFill>
              </a:rPr>
              <a:t> and </a:t>
            </a:r>
            <a:r>
              <a:rPr sz="1050" b="1" i="0">
                <a:solidFill>
                  <a:srgbClr val="1F2937"/>
                </a:solidFill>
              </a:rPr>
              <a:t>each tool call</a:t>
            </a:r>
            <a:r>
              <a:rPr sz="1050" b="0" i="0">
                <a:solidFill>
                  <a:srgbClr val="1F2937"/>
                </a:solidFill>
              </a:rPr>
              <a:t> (MCP tools/call or JSON):</a:t>
            </a:r>
            <a:endParaRPr lang="en-US" sz="1300" dirty="0"/>
          </a:p>
          <a:p>
            <a:pPr marL="0" indent="0">
              <a:buNone/>
            </a:pPr>
            <a:r>
              <a:rPr sz="1050" b="0" i="0">
                <a:solidFill>
                  <a:srgbClr val="1F2937"/>
                </a:solidFill>
              </a:rPr>
              <a:t>tool + args, the user’s request, role, environment, and earlier tool outputs (for provenance).</a:t>
            </a:r>
          </a:p>
        </p:txBody>
      </p:sp>
      <p:sp>
        <p:nvSpPr>
          <p:cNvPr id="29" name="Text 13">
            <a:extLst>
              <a:ext uri="{FF2B5EF4-FFF2-40B4-BE49-F238E27FC236}">
                <a16:creationId xmlns:a16="http://schemas.microsoft.com/office/drawing/2014/main" id="{C6B2181D-543C-938E-9D4D-565CB48A781A}"/>
              </a:ext>
            </a:extLst>
          </p:cNvPr>
          <p:cNvSpPr/>
          <p:nvPr/>
        </p:nvSpPr>
        <p:spPr>
          <a:xfrm>
            <a:off x="4059936" y="2779776"/>
            <a:ext cx="228600" cy="320040"/>
          </a:xfrm>
          <a:prstGeom prst="rect">
            <a:avLst/>
          </a:prstGeom>
          <a:noFill/>
          <a:ln/>
        </p:spPr>
        <p:txBody>
          <a:bodyPr wrap="square" lIns="0" tIns="0" rIns="0" bIns="0" rtlCol="0" anchor="ctr"/>
          <a:lstStyle/>
          <a:p>
            <a:pPr marL="0" indent="0" algn="ctr">
              <a:buNone/>
            </a:pPr>
            <a:r>
              <a:rPr lang="en-US" sz="2600" b="1" dirty="0">
                <a:solidFill>
                  <a:srgbClr val="007CC3"/>
                </a:solidFill>
              </a:rPr>
              <a:t>›</a:t>
            </a:r>
            <a:endParaRPr lang="en-US" sz="2600" dirty="0"/>
          </a:p>
        </p:txBody>
      </p:sp>
      <p:sp>
        <p:nvSpPr>
          <p:cNvPr id="30" name="Shape 14">
            <a:extLst>
              <a:ext uri="{FF2B5EF4-FFF2-40B4-BE49-F238E27FC236}">
                <a16:creationId xmlns:a16="http://schemas.microsoft.com/office/drawing/2014/main" id="{F83C9B4A-5248-7ACA-C711-E148A2B6A329}"/>
              </a:ext>
            </a:extLst>
          </p:cNvPr>
          <p:cNvSpPr/>
          <p:nvPr/>
        </p:nvSpPr>
        <p:spPr>
          <a:xfrm>
            <a:off x="4370832" y="2121408"/>
            <a:ext cx="3319272" cy="1993392"/>
          </a:xfrm>
          <a:prstGeom prst="roundRect">
            <a:avLst>
              <a:gd name="adj" fmla="val 2294"/>
            </a:avLst>
          </a:prstGeom>
          <a:solidFill>
            <a:srgbClr val="F3EEFC"/>
          </a:solidFill>
          <a:ln w="15240">
            <a:solidFill>
              <a:srgbClr val="5417A8"/>
            </a:solidFill>
            <a:prstDash val="solid"/>
          </a:ln>
        </p:spPr>
        <p:txBody>
          <a:bodyPr/>
          <a:lstStyle/>
          <a:p>
            <a:endParaRPr lang="en-US"/>
          </a:p>
        </p:txBody>
      </p:sp>
      <p:sp>
        <p:nvSpPr>
          <p:cNvPr id="31" name="Shape 15">
            <a:extLst>
              <a:ext uri="{FF2B5EF4-FFF2-40B4-BE49-F238E27FC236}">
                <a16:creationId xmlns:a16="http://schemas.microsoft.com/office/drawing/2014/main" id="{3269B93A-F82B-3E8E-342E-8A1E7011E71B}"/>
              </a:ext>
            </a:extLst>
          </p:cNvPr>
          <p:cNvSpPr/>
          <p:nvPr/>
        </p:nvSpPr>
        <p:spPr>
          <a:xfrm>
            <a:off x="4535424" y="2313432"/>
            <a:ext cx="420624" cy="420624"/>
          </a:xfrm>
          <a:prstGeom prst="ellipse">
            <a:avLst/>
          </a:prstGeom>
          <a:solidFill>
            <a:srgbClr val="5417A8"/>
          </a:solidFill>
          <a:ln w="12700">
            <a:solidFill>
              <a:srgbClr val="FFFFFF">
                <a:alpha val="0"/>
              </a:srgbClr>
            </a:solidFill>
            <a:prstDash val="solid"/>
          </a:ln>
        </p:spPr>
        <p:txBody>
          <a:bodyPr/>
          <a:lstStyle/>
          <a:p>
            <a:endParaRPr lang="en-US"/>
          </a:p>
        </p:txBody>
      </p:sp>
      <p:sp>
        <p:nvSpPr>
          <p:cNvPr id="32" name="Text 16">
            <a:extLst>
              <a:ext uri="{FF2B5EF4-FFF2-40B4-BE49-F238E27FC236}">
                <a16:creationId xmlns:a16="http://schemas.microsoft.com/office/drawing/2014/main" id="{9A002D95-7166-212D-1C2F-622F6CBAB794}"/>
              </a:ext>
            </a:extLst>
          </p:cNvPr>
          <p:cNvSpPr/>
          <p:nvPr/>
        </p:nvSpPr>
        <p:spPr>
          <a:xfrm>
            <a:off x="4535424" y="2423160"/>
            <a:ext cx="420624" cy="10972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33" name="Text 17">
            <a:extLst>
              <a:ext uri="{FF2B5EF4-FFF2-40B4-BE49-F238E27FC236}">
                <a16:creationId xmlns:a16="http://schemas.microsoft.com/office/drawing/2014/main" id="{27141539-8D6F-3A4F-E553-2FA9E02C8629}"/>
              </a:ext>
            </a:extLst>
          </p:cNvPr>
          <p:cNvSpPr/>
          <p:nvPr/>
        </p:nvSpPr>
        <p:spPr>
          <a:xfrm>
            <a:off x="5084064" y="2340864"/>
            <a:ext cx="2286000" cy="219456"/>
          </a:xfrm>
          <a:prstGeom prst="rect">
            <a:avLst/>
          </a:prstGeom>
          <a:noFill/>
          <a:ln/>
        </p:spPr>
        <p:txBody>
          <a:bodyPr wrap="square" lIns="0" tIns="0" rIns="0" bIns="0" rtlCol="0" anchor="ctr"/>
          <a:lstStyle/>
          <a:p>
            <a:pPr marL="0" indent="0">
              <a:buNone/>
            </a:pPr>
            <a:r>
              <a:rPr lang="en-US" sz="1200" b="1" dirty="0">
                <a:solidFill>
                  <a:srgbClr val="111827"/>
                </a:solidFill>
              </a:rPr>
              <a:t>PROCESS</a:t>
            </a:r>
            <a:endParaRPr lang="en-US" sz="1200" dirty="0"/>
          </a:p>
        </p:txBody>
      </p:sp>
      <p:sp>
        <p:nvSpPr>
          <p:cNvPr id="34" name="Text 18">
            <a:extLst>
              <a:ext uri="{FF2B5EF4-FFF2-40B4-BE49-F238E27FC236}">
                <a16:creationId xmlns:a16="http://schemas.microsoft.com/office/drawing/2014/main" id="{6644E157-AD38-7252-7CFB-3C77C815A5BF}"/>
              </a:ext>
            </a:extLst>
          </p:cNvPr>
          <p:cNvSpPr/>
          <p:nvPr/>
        </p:nvSpPr>
        <p:spPr>
          <a:xfrm>
            <a:off x="4553712" y="2889504"/>
            <a:ext cx="2944368" cy="832104"/>
          </a:xfrm>
          <a:prstGeom prst="rect">
            <a:avLst/>
          </a:prstGeom>
          <a:noFill/>
          <a:ln/>
        </p:spPr>
        <p:txBody>
          <a:bodyPr wrap="square" lIns="381" tIns="381" rIns="381" bIns="381" rtlCol="0" anchor="ctr">
            <a:normAutofit/>
          </a:bodyPr>
          <a:lstStyle/>
          <a:p>
            <a:pPr marL="0" indent="0">
              <a:buNone/>
            </a:pPr>
            <a:r>
              <a:rPr sz="1050" b="1" i="0">
                <a:solidFill>
                  <a:srgbClr val="1F2937"/>
                </a:solidFill>
              </a:rPr>
              <a:t>Hard gates</a:t>
            </a:r>
            <a:r>
              <a:rPr sz="1050" b="0" i="0">
                <a:solidFill>
                  <a:srgbClr val="1F2937"/>
                </a:solidFill>
              </a:rPr>
              <a:t> R1–R12 (no AI) → </a:t>
            </a:r>
            <a:r>
              <a:rPr sz="1050" b="1" i="0">
                <a:solidFill>
                  <a:srgbClr val="1F2937"/>
                </a:solidFill>
              </a:rPr>
              <a:t>provenance</a:t>
            </a:r>
            <a:r>
              <a:rPr sz="1050" b="0" i="0">
                <a:solidFill>
                  <a:srgbClr val="1F2937"/>
                </a:solidFill>
              </a:rPr>
              <a:t> of every argument → </a:t>
            </a:r>
            <a:r>
              <a:rPr sz="1050" b="1" i="0">
                <a:solidFill>
                  <a:srgbClr val="1F2937"/>
                </a:solidFill>
              </a:rPr>
              <a:t>sandbox diff</a:t>
            </a:r>
            <a:r>
              <a:rPr sz="1050" b="0" i="0">
                <a:solidFill>
                  <a:srgbClr val="1F2937"/>
                </a:solidFill>
              </a:rPr>
              <a:t> / typed prediction of the effect → </a:t>
            </a:r>
            <a:r>
              <a:rPr sz="1050" b="1" i="0">
                <a:solidFill>
                  <a:srgbClr val="1F2937"/>
                </a:solidFill>
              </a:rPr>
              <a:t>calibrated p(harm)</a:t>
            </a:r>
            <a:r>
              <a:rPr sz="1050" b="0" i="0">
                <a:solidFill>
                  <a:srgbClr val="1F2937"/>
                </a:solidFill>
              </a:rPr>
              <a:t> with interval vs a </a:t>
            </a:r>
            <a:r>
              <a:rPr sz="1050" b="1" i="0">
                <a:solidFill>
                  <a:srgbClr val="1F2937"/>
                </a:solidFill>
              </a:rPr>
              <a:t>reversibility-conditioned τ</a:t>
            </a:r>
            <a:r>
              <a:rPr sz="1050" b="0" i="0">
                <a:solidFill>
                  <a:srgbClr val="1F2937"/>
                </a:solidFill>
              </a:rPr>
              <a:t>.</a:t>
            </a:r>
            <a:endParaRPr lang="en-US" sz="1300" dirty="0"/>
          </a:p>
        </p:txBody>
      </p:sp>
      <p:sp>
        <p:nvSpPr>
          <p:cNvPr id="35" name="Text 19">
            <a:extLst>
              <a:ext uri="{FF2B5EF4-FFF2-40B4-BE49-F238E27FC236}">
                <a16:creationId xmlns:a16="http://schemas.microsoft.com/office/drawing/2014/main" id="{38C41653-B839-6E76-43DB-17B2C663CB71}"/>
              </a:ext>
            </a:extLst>
          </p:cNvPr>
          <p:cNvSpPr/>
          <p:nvPr/>
        </p:nvSpPr>
        <p:spPr>
          <a:xfrm>
            <a:off x="7772400" y="2779776"/>
            <a:ext cx="228600" cy="320040"/>
          </a:xfrm>
          <a:prstGeom prst="rect">
            <a:avLst/>
          </a:prstGeom>
          <a:noFill/>
          <a:ln/>
        </p:spPr>
        <p:txBody>
          <a:bodyPr wrap="square" lIns="0" tIns="0" rIns="0" bIns="0" rtlCol="0" anchor="ctr"/>
          <a:lstStyle/>
          <a:p>
            <a:pPr marL="0" indent="0" algn="ctr">
              <a:buNone/>
            </a:pPr>
            <a:r>
              <a:rPr lang="en-US" sz="2600" b="1" dirty="0">
                <a:solidFill>
                  <a:srgbClr val="007CC3"/>
                </a:solidFill>
              </a:rPr>
              <a:t>›</a:t>
            </a:r>
            <a:endParaRPr lang="en-US" sz="2600" dirty="0"/>
          </a:p>
        </p:txBody>
      </p:sp>
      <p:sp>
        <p:nvSpPr>
          <p:cNvPr id="36" name="Shape 20">
            <a:extLst>
              <a:ext uri="{FF2B5EF4-FFF2-40B4-BE49-F238E27FC236}">
                <a16:creationId xmlns:a16="http://schemas.microsoft.com/office/drawing/2014/main" id="{03B724BB-CD71-068B-CF5C-B061FDF3330C}"/>
              </a:ext>
            </a:extLst>
          </p:cNvPr>
          <p:cNvSpPr/>
          <p:nvPr/>
        </p:nvSpPr>
        <p:spPr>
          <a:xfrm>
            <a:off x="8083296" y="2121408"/>
            <a:ext cx="3319272" cy="1993392"/>
          </a:xfrm>
          <a:prstGeom prst="roundRect">
            <a:avLst>
              <a:gd name="adj" fmla="val 2294"/>
            </a:avLst>
          </a:prstGeom>
          <a:solidFill>
            <a:srgbClr val="EFF7E9"/>
          </a:solidFill>
          <a:ln w="15240">
            <a:solidFill>
              <a:srgbClr val="63A845"/>
            </a:solidFill>
            <a:prstDash val="solid"/>
          </a:ln>
        </p:spPr>
        <p:txBody>
          <a:bodyPr/>
          <a:lstStyle/>
          <a:p>
            <a:endParaRPr lang="en-US"/>
          </a:p>
        </p:txBody>
      </p:sp>
      <p:sp>
        <p:nvSpPr>
          <p:cNvPr id="37" name="Shape 21">
            <a:extLst>
              <a:ext uri="{FF2B5EF4-FFF2-40B4-BE49-F238E27FC236}">
                <a16:creationId xmlns:a16="http://schemas.microsoft.com/office/drawing/2014/main" id="{B6C195CA-E36C-C6E9-5728-77ADC354632A}"/>
              </a:ext>
            </a:extLst>
          </p:cNvPr>
          <p:cNvSpPr/>
          <p:nvPr/>
        </p:nvSpPr>
        <p:spPr>
          <a:xfrm>
            <a:off x="8247888" y="2313432"/>
            <a:ext cx="420624" cy="420624"/>
          </a:xfrm>
          <a:prstGeom prst="ellipse">
            <a:avLst/>
          </a:prstGeom>
          <a:solidFill>
            <a:srgbClr val="63A845"/>
          </a:solidFill>
          <a:ln w="12700">
            <a:solidFill>
              <a:srgbClr val="FFFFFF">
                <a:alpha val="0"/>
              </a:srgbClr>
            </a:solidFill>
            <a:prstDash val="solid"/>
          </a:ln>
        </p:spPr>
        <p:txBody>
          <a:bodyPr/>
          <a:lstStyle/>
          <a:p>
            <a:endParaRPr lang="en-US"/>
          </a:p>
        </p:txBody>
      </p:sp>
      <p:sp>
        <p:nvSpPr>
          <p:cNvPr id="38" name="Text 22">
            <a:extLst>
              <a:ext uri="{FF2B5EF4-FFF2-40B4-BE49-F238E27FC236}">
                <a16:creationId xmlns:a16="http://schemas.microsoft.com/office/drawing/2014/main" id="{FF0E0EEF-14EA-FC6A-9783-D69F6266522A}"/>
              </a:ext>
            </a:extLst>
          </p:cNvPr>
          <p:cNvSpPr/>
          <p:nvPr/>
        </p:nvSpPr>
        <p:spPr>
          <a:xfrm>
            <a:off x="8247888" y="2423160"/>
            <a:ext cx="420624" cy="10972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9" name="Text 23">
            <a:extLst>
              <a:ext uri="{FF2B5EF4-FFF2-40B4-BE49-F238E27FC236}">
                <a16:creationId xmlns:a16="http://schemas.microsoft.com/office/drawing/2014/main" id="{FCDA84A9-3946-E20D-B806-C000556594E5}"/>
              </a:ext>
            </a:extLst>
          </p:cNvPr>
          <p:cNvSpPr/>
          <p:nvPr/>
        </p:nvSpPr>
        <p:spPr>
          <a:xfrm>
            <a:off x="8796528" y="2340864"/>
            <a:ext cx="2286000" cy="219456"/>
          </a:xfrm>
          <a:prstGeom prst="rect">
            <a:avLst/>
          </a:prstGeom>
          <a:noFill/>
          <a:ln/>
        </p:spPr>
        <p:txBody>
          <a:bodyPr wrap="square" lIns="0" tIns="0" rIns="0" bIns="0" rtlCol="0" anchor="ctr"/>
          <a:lstStyle/>
          <a:p>
            <a:pPr marL="0" indent="0">
              <a:buNone/>
            </a:pPr>
            <a:r>
              <a:rPr lang="en-US" sz="1200" b="1" dirty="0">
                <a:solidFill>
                  <a:srgbClr val="111827"/>
                </a:solidFill>
              </a:rPr>
              <a:t>OUTPUT</a:t>
            </a:r>
            <a:endParaRPr lang="en-US" sz="1200" dirty="0"/>
          </a:p>
        </p:txBody>
      </p:sp>
      <p:sp>
        <p:nvSpPr>
          <p:cNvPr id="40" name="Text 24">
            <a:extLst>
              <a:ext uri="{FF2B5EF4-FFF2-40B4-BE49-F238E27FC236}">
                <a16:creationId xmlns:a16="http://schemas.microsoft.com/office/drawing/2014/main" id="{BE1C7975-0A5B-A11B-FFE7-40F40E440F07}"/>
              </a:ext>
            </a:extLst>
          </p:cNvPr>
          <p:cNvSpPr/>
          <p:nvPr/>
        </p:nvSpPr>
        <p:spPr>
          <a:xfrm>
            <a:off x="8266176" y="2889504"/>
            <a:ext cx="2944368" cy="832104"/>
          </a:xfrm>
          <a:prstGeom prst="rect">
            <a:avLst/>
          </a:prstGeom>
          <a:noFill/>
          <a:ln/>
        </p:spPr>
        <p:txBody>
          <a:bodyPr wrap="square" lIns="381" tIns="381" rIns="381" bIns="381" rtlCol="0" anchor="ctr">
            <a:normAutofit/>
          </a:bodyPr>
          <a:lstStyle/>
          <a:p>
            <a:pPr marL="0" indent="0">
              <a:buNone/>
            </a:pPr>
            <a:r>
              <a:rPr sz="1050" b="1" i="0">
                <a:solidFill>
                  <a:srgbClr val="1F2937"/>
                </a:solidFill>
              </a:rPr>
              <a:t>ALLOW · ALLOW + UNDO · ESCALATE · DENY</a:t>
            </a:r>
            <a:endParaRPr lang="en-US" sz="1300" dirty="0"/>
          </a:p>
          <a:p>
            <a:pPr marL="0" indent="0">
              <a:buNone/>
            </a:pPr>
            <a:r>
              <a:rPr sz="1050" b="0" i="0">
                <a:solidFill>
                  <a:srgbClr val="1F2937"/>
                </a:solidFill>
              </a:rPr>
              <a:t>4-light scorecard (safe / authorized / explainable / reversible), consequence card for humans, replan hint for the agent, hash-chained receipt.</a:t>
            </a:r>
          </a:p>
        </p:txBody>
      </p:sp>
      <p:sp>
        <p:nvSpPr>
          <p:cNvPr id="41" name="Shape 25">
            <a:extLst>
              <a:ext uri="{FF2B5EF4-FFF2-40B4-BE49-F238E27FC236}">
                <a16:creationId xmlns:a16="http://schemas.microsoft.com/office/drawing/2014/main" id="{2387BDDC-1FD1-94F9-88EA-B1B1A5476958}"/>
              </a:ext>
            </a:extLst>
          </p:cNvPr>
          <p:cNvSpPr/>
          <p:nvPr/>
        </p:nvSpPr>
        <p:spPr>
          <a:xfrm>
            <a:off x="585066" y="4389120"/>
            <a:ext cx="10826496" cy="566928"/>
          </a:xfrm>
          <a:prstGeom prst="roundRect">
            <a:avLst>
              <a:gd name="adj" fmla="val 8065"/>
            </a:avLst>
          </a:prstGeom>
          <a:solidFill>
            <a:srgbClr val="FFFFFF"/>
          </a:solidFill>
          <a:ln w="12700">
            <a:solidFill>
              <a:srgbClr val="DCE5EC"/>
            </a:solidFill>
            <a:prstDash val="solid"/>
          </a:ln>
          <a:effectLst/>
        </p:spPr>
        <p:txBody>
          <a:bodyPr/>
          <a:lstStyle/>
          <a:p>
            <a:endParaRPr lang="en-US"/>
          </a:p>
        </p:txBody>
      </p:sp>
      <p:sp>
        <p:nvSpPr>
          <p:cNvPr id="42" name="Text 26">
            <a:extLst>
              <a:ext uri="{FF2B5EF4-FFF2-40B4-BE49-F238E27FC236}">
                <a16:creationId xmlns:a16="http://schemas.microsoft.com/office/drawing/2014/main" id="{88642670-7401-6942-FA9F-B4B48641D49E}"/>
              </a:ext>
            </a:extLst>
          </p:cNvPr>
          <p:cNvSpPr/>
          <p:nvPr/>
        </p:nvSpPr>
        <p:spPr>
          <a:xfrm>
            <a:off x="713232" y="4517136"/>
            <a:ext cx="10826496" cy="500000"/>
          </a:xfrm>
          <a:prstGeom prst="rect">
            <a:avLst/>
          </a:prstGeom>
          <a:noFill/>
          <a:ln/>
        </p:spPr>
        <p:txBody>
          <a:bodyPr wrap="square" lIns="0" tIns="0" rIns="0" bIns="0" rtlCol="0" anchor="ctr"/>
          <a:lstStyle/>
          <a:p>
            <a:pPr marL="0" indent="0">
              <a:buNone/>
            </a:pPr>
            <a:r>
              <a:rPr sz="850" b="1" i="0">
                <a:solidFill>
                  <a:srgbClr val="F28C28"/>
                </a:solidFill>
              </a:rPr>
              <a:t>KEY VALUE / DIFFERENTIATOR</a:t>
            </a:r>
            <a:endParaRPr lang="en-US" sz="850" dirty="0"/>
          </a:p>
          <a:p>
            <a:pPr marL="0" indent="0">
              <a:buNone/>
            </a:pPr>
            <a:r>
              <a:rPr sz="1100" b="0" i="0">
                <a:solidFill>
                  <a:srgbClr val="1F2937"/>
                </a:solidFill>
              </a:rPr>
              <a:t>  Gate by </a:t>
            </a:r>
            <a:r>
              <a:rPr sz="1100" b="1" i="0">
                <a:solidFill>
                  <a:srgbClr val="1F2937"/>
                </a:solidFill>
              </a:rPr>
              <a:t>measured effect + argument origin</a:t>
            </a:r>
            <a:r>
              <a:rPr sz="1100" b="0" i="0">
                <a:solidFill>
                  <a:srgbClr val="1F2937"/>
                </a:solidFill>
              </a:rPr>
              <a:t>, not by tool type. The LLM never decides. Humans see only the uncertain few.</a:t>
            </a:r>
          </a:p>
        </p:txBody>
      </p:sp>
      <p:grpSp>
        <p:nvGrpSpPr>
          <p:cNvPr id="49" name="Group 48">
            <a:extLst>
              <a:ext uri="{FF2B5EF4-FFF2-40B4-BE49-F238E27FC236}">
                <a16:creationId xmlns:a16="http://schemas.microsoft.com/office/drawing/2014/main" id="{530B5A7D-81E5-A6BD-24F6-B04017EACA9D}"/>
              </a:ext>
            </a:extLst>
          </p:cNvPr>
          <p:cNvGrpSpPr/>
          <p:nvPr/>
        </p:nvGrpSpPr>
        <p:grpSpPr>
          <a:xfrm>
            <a:off x="554486" y="5010912"/>
            <a:ext cx="10857076" cy="749808"/>
            <a:chOff x="444758" y="5065776"/>
            <a:chExt cx="11228832" cy="1033272"/>
          </a:xfrm>
        </p:grpSpPr>
        <p:sp>
          <p:nvSpPr>
            <p:cNvPr id="44" name="Shape 28">
              <a:extLst>
                <a:ext uri="{FF2B5EF4-FFF2-40B4-BE49-F238E27FC236}">
                  <a16:creationId xmlns:a16="http://schemas.microsoft.com/office/drawing/2014/main" id="{80037608-3A5E-88A3-5289-6D1A79AC9774}"/>
                </a:ext>
              </a:extLst>
            </p:cNvPr>
            <p:cNvSpPr/>
            <p:nvPr/>
          </p:nvSpPr>
          <p:spPr>
            <a:xfrm>
              <a:off x="444758" y="5065776"/>
              <a:ext cx="11228832" cy="960120"/>
            </a:xfrm>
            <a:prstGeom prst="roundRect">
              <a:avLst>
                <a:gd name="adj" fmla="val 5714"/>
              </a:avLst>
            </a:prstGeom>
            <a:solidFill>
              <a:srgbClr val="F8FAFC"/>
            </a:solidFill>
            <a:ln w="12700">
              <a:solidFill>
                <a:srgbClr val="DCE5EC"/>
              </a:solidFill>
              <a:prstDash val="solid"/>
            </a:ln>
          </p:spPr>
          <p:txBody>
            <a:bodyPr/>
            <a:lstStyle/>
            <a:p>
              <a:endParaRPr lang="en-US"/>
            </a:p>
          </p:txBody>
        </p:sp>
        <p:sp>
          <p:nvSpPr>
            <p:cNvPr id="45" name="Shape 29">
              <a:extLst>
                <a:ext uri="{FF2B5EF4-FFF2-40B4-BE49-F238E27FC236}">
                  <a16:creationId xmlns:a16="http://schemas.microsoft.com/office/drawing/2014/main" id="{E1095448-4699-DBDD-5246-5B6185E2FC94}"/>
                </a:ext>
              </a:extLst>
            </p:cNvPr>
            <p:cNvSpPr/>
            <p:nvPr/>
          </p:nvSpPr>
          <p:spPr>
            <a:xfrm>
              <a:off x="475488" y="5138928"/>
              <a:ext cx="82296" cy="960120"/>
            </a:xfrm>
            <a:prstGeom prst="rect">
              <a:avLst/>
            </a:prstGeom>
            <a:solidFill>
              <a:srgbClr val="007CC3"/>
            </a:solidFill>
            <a:ln w="12700">
              <a:solidFill>
                <a:srgbClr val="007CC3"/>
              </a:solidFill>
              <a:prstDash val="solid"/>
            </a:ln>
          </p:spPr>
          <p:txBody>
            <a:bodyPr/>
            <a:lstStyle/>
            <a:p>
              <a:endParaRPr lang="en-US"/>
            </a:p>
          </p:txBody>
        </p:sp>
        <p:sp>
          <p:nvSpPr>
            <p:cNvPr id="46" name="Text 30">
              <a:extLst>
                <a:ext uri="{FF2B5EF4-FFF2-40B4-BE49-F238E27FC236}">
                  <a16:creationId xmlns:a16="http://schemas.microsoft.com/office/drawing/2014/main" id="{5C4C2726-B3AE-9C1E-A76E-FC42254D9480}"/>
                </a:ext>
              </a:extLst>
            </p:cNvPr>
            <p:cNvSpPr/>
            <p:nvPr/>
          </p:nvSpPr>
          <p:spPr>
            <a:xfrm>
              <a:off x="713232" y="5266944"/>
              <a:ext cx="960120" cy="164592"/>
            </a:xfrm>
            <a:prstGeom prst="rect">
              <a:avLst/>
            </a:prstGeom>
            <a:noFill/>
            <a:ln/>
          </p:spPr>
          <p:txBody>
            <a:bodyPr wrap="square" lIns="0" tIns="0" rIns="0" bIns="0" rtlCol="0" anchor="ctr"/>
            <a:lstStyle/>
            <a:p>
              <a:pPr marL="0" indent="0">
                <a:buNone/>
              </a:pPr>
              <a:r>
                <a:rPr sz="900" b="1" i="0">
                  <a:solidFill>
                    <a:srgbClr val="007CC3"/>
                  </a:solidFill>
                </a:rPr>
                <a:t>PROVEN TODAY</a:t>
              </a:r>
              <a:endParaRPr lang="en-US" sz="900" dirty="0"/>
            </a:p>
          </p:txBody>
        </p:sp>
        <p:sp>
          <p:nvSpPr>
            <p:cNvPr id="47" name="Text 31">
              <a:extLst>
                <a:ext uri="{FF2B5EF4-FFF2-40B4-BE49-F238E27FC236}">
                  <a16:creationId xmlns:a16="http://schemas.microsoft.com/office/drawing/2014/main" id="{1955E233-948E-C5E8-2CA1-2F05E8F62F43}"/>
                </a:ext>
              </a:extLst>
            </p:cNvPr>
            <p:cNvSpPr/>
            <p:nvPr/>
          </p:nvSpPr>
          <p:spPr>
            <a:xfrm>
              <a:off x="1993392" y="5230368"/>
              <a:ext cx="9326880" cy="795528"/>
            </a:xfrm>
            <a:prstGeom prst="rect">
              <a:avLst/>
            </a:prstGeom>
            <a:noFill/>
            <a:ln/>
          </p:spPr>
          <p:txBody>
            <a:bodyPr wrap="square" lIns="381" tIns="381" rIns="381" bIns="381" rtlCol="0" anchor="ctr"/>
            <a:lstStyle/>
            <a:p>
              <a:pPr marL="177800" indent="-177800">
                <a:buSzPct val="100000"/>
                <a:buChar char="•"/>
              </a:pPr>
              <a:r>
                <a:rPr sz="1050" b="0" i="0">
                  <a:solidFill>
                    <a:srgbClr val="1F2937"/>
                  </a:solidFill>
                </a:rPr>
                <a:t>Injected exfiltration and payment: </a:t>
              </a:r>
              <a:r>
                <a:rPr sz="1050" b="1" i="0">
                  <a:solidFill>
                    <a:srgbClr val="1F2937"/>
                  </a:solidFill>
                </a:rPr>
                <a:t>blocked by provenance (R1)</a:t>
              </a:r>
              <a:r>
                <a:rPr sz="1050" b="0" i="0">
                  <a:solidFill>
                    <a:srgbClr val="1F2937"/>
                  </a:solidFill>
                </a:rPr>
                <a:t>; injection ASR </a:t>
              </a:r>
              <a:r>
                <a:rPr sz="1050" b="1" i="0">
                  <a:solidFill>
                    <a:srgbClr val="1F2937"/>
                  </a:solidFill>
                </a:rPr>
                <a:t>0%</a:t>
              </a:r>
              <a:r>
                <a:rPr sz="1050" b="0" i="0">
                  <a:solidFill>
                    <a:srgbClr val="1F2937"/>
                  </a:solidFill>
                </a:rPr>
                <a:t>.</a:t>
              </a:r>
              <a:endParaRPr lang="en-US" sz="1100" dirty="0"/>
            </a:p>
            <a:p>
              <a:pPr marL="177800" indent="-177800">
                <a:buSzPct val="100000"/>
                <a:buChar char="•"/>
              </a:pPr>
              <a:r>
                <a:rPr sz="1050" b="0" i="0">
                  <a:solidFill>
                    <a:srgbClr val="1F2937"/>
                  </a:solidFill>
                </a:rPr>
                <a:t>Unsafe auto-allowed </a:t>
              </a:r>
              <a:r>
                <a:rPr sz="1050" b="1" i="0">
                  <a:solidFill>
                    <a:srgbClr val="1F2937"/>
                  </a:solidFill>
                </a:rPr>
                <a:t>0.5%</a:t>
              </a:r>
              <a:r>
                <a:rPr sz="1050" b="0" i="0">
                  <a:solidFill>
                    <a:srgbClr val="1F2937"/>
                  </a:solidFill>
                </a:rPr>
                <a:t> vs </a:t>
              </a:r>
              <a:r>
                <a:rPr sz="1050" b="1" i="0">
                  <a:solidFill>
                    <a:srgbClr val="1F2937"/>
                  </a:solidFill>
                </a:rPr>
                <a:t>30%</a:t>
              </a:r>
              <a:r>
                <a:rPr sz="1050" b="0" i="0">
                  <a:solidFill>
                    <a:srgbClr val="1F2937"/>
                  </a:solidFill>
                </a:rPr>
                <a:t> with rules alone; safe actions automated </a:t>
              </a:r>
              <a:r>
                <a:rPr sz="1050" b="1" i="0">
                  <a:solidFill>
                    <a:srgbClr val="1F2937"/>
                  </a:solidFill>
                </a:rPr>
                <a:t>68%</a:t>
              </a:r>
              <a:r>
                <a:rPr sz="1050" b="0" i="0">
                  <a:solidFill>
                    <a:srgbClr val="1F2937"/>
                  </a:solidFill>
                </a:rPr>
                <a:t> vs </a:t>
              </a:r>
              <a:r>
                <a:rPr sz="1050" b="1" i="0">
                  <a:solidFill>
                    <a:srgbClr val="1F2937"/>
                  </a:solidFill>
                </a:rPr>
                <a:t>12%</a:t>
              </a:r>
              <a:r>
                <a:rPr sz="1050" b="0" i="0">
                  <a:solidFill>
                    <a:srgbClr val="1F2937"/>
                  </a:solidFill>
                </a:rPr>
                <a:t> when every write needs approval.</a:t>
              </a:r>
            </a:p>
            <a:p>
              <a:pPr marL="177800" indent="-177800">
                <a:buSzPct val="100000"/>
                <a:buChar char="•"/>
              </a:pPr>
              <a:r>
                <a:rPr sz="1050" b="0" i="0">
                  <a:solidFill>
                    <a:srgbClr val="1F2937"/>
                  </a:solidFill>
                </a:rPr>
                <a:t>Reversible writes run with a snapshot; </a:t>
              </a:r>
              <a:r>
                <a:rPr sz="1050" b="1" i="0">
                  <a:solidFill>
                    <a:srgbClr val="1F2937"/>
                  </a:solidFill>
                </a:rPr>
                <a:t>Undo</a:t>
              </a:r>
              <a:r>
                <a:rPr sz="1050" b="0" i="0">
                  <a:solidFill>
                    <a:srgbClr val="1F2937"/>
                  </a:solidFill>
                </a:rPr>
                <a:t> restores state live.</a:t>
              </a:r>
            </a:p>
          </p:txBody>
        </p:sp>
      </p:grpSp>
      <p:sp>
        <p:nvSpPr>
          <p:cNvPr id="48" name="Slide Number Placeholder 0">
            <a:extLst>
              <a:ext uri="{FF2B5EF4-FFF2-40B4-BE49-F238E27FC236}">
                <a16:creationId xmlns:a16="http://schemas.microsoft.com/office/drawing/2014/main" id="{22928792-56EE-DE35-07ED-8C021E41D61C}"/>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4</a:t>
            </a:fld>
            <a:endParaRPr lang="en-US"/>
          </a:p>
        </p:txBody>
      </p:sp>
    </p:spTree>
    <p:extLst>
      <p:ext uri="{BB962C8B-B14F-4D97-AF65-F5344CB8AC3E}">
        <p14:creationId xmlns:p14="http://schemas.microsoft.com/office/powerpoint/2010/main" val="1208727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F47E988-0908-036B-1455-F49B5EE4CE02}"/>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Architecture &amp; Technical Design</a:t>
            </a:r>
            <a:endParaRPr lang="en-US" sz="2400" dirty="0"/>
          </a:p>
        </p:txBody>
      </p:sp>
      <p:sp>
        <p:nvSpPr>
          <p:cNvPr id="3" name="Text 1">
            <a:extLst>
              <a:ext uri="{FF2B5EF4-FFF2-40B4-BE49-F238E27FC236}">
                <a16:creationId xmlns:a16="http://schemas.microsoft.com/office/drawing/2014/main" id="{1EF15766-5E67-710C-418E-D286CF23B3CA}"/>
              </a:ext>
            </a:extLst>
          </p:cNvPr>
          <p:cNvSpPr/>
          <p:nvPr/>
        </p:nvSpPr>
        <p:spPr>
          <a:xfrm>
            <a:off x="475488" y="658368"/>
            <a:ext cx="8823960" cy="219456"/>
          </a:xfrm>
          <a:prstGeom prst="rect">
            <a:avLst/>
          </a:prstGeom>
          <a:noFill/>
          <a:ln/>
        </p:spPr>
        <p:txBody>
          <a:bodyPr wrap="square" lIns="0" tIns="0" rIns="0" bIns="0" rtlCol="0" anchor="ctr"/>
          <a:lstStyle/>
          <a:p>
            <a:pPr marL="0" indent="0">
              <a:buNone/>
            </a:pPr>
            <a:r>
              <a:rPr lang="en-US" sz="1050" dirty="0">
                <a:solidFill>
                  <a:srgbClr val="5B6573"/>
                </a:solidFill>
              </a:rPr>
              <a:t>Show the main components, data flow and engineering choices.</a:t>
            </a:r>
            <a:endParaRPr lang="en-US" sz="1050" dirty="0"/>
          </a:p>
        </p:txBody>
      </p:sp>
      <p:sp>
        <p:nvSpPr>
          <p:cNvPr id="5" name="Text 3">
            <a:extLst>
              <a:ext uri="{FF2B5EF4-FFF2-40B4-BE49-F238E27FC236}">
                <a16:creationId xmlns:a16="http://schemas.microsoft.com/office/drawing/2014/main" id="{03D5086C-A368-C401-F126-E27B82EBD8AF}"/>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0:55</a:t>
            </a:r>
            <a:endParaRPr lang="en-US" sz="850" dirty="0"/>
          </a:p>
        </p:txBody>
      </p:sp>
      <p:sp>
        <p:nvSpPr>
          <p:cNvPr id="7" name="Shape 5">
            <a:extLst>
              <a:ext uri="{FF2B5EF4-FFF2-40B4-BE49-F238E27FC236}">
                <a16:creationId xmlns:a16="http://schemas.microsoft.com/office/drawing/2014/main" id="{1FEEAEA4-6F1C-DA0D-70AF-1CD9E57D94C8}"/>
              </a:ext>
            </a:extLst>
          </p:cNvPr>
          <p:cNvSpPr/>
          <p:nvPr/>
        </p:nvSpPr>
        <p:spPr>
          <a:xfrm>
            <a:off x="621792" y="1517904"/>
            <a:ext cx="2249424" cy="1572768"/>
          </a:xfrm>
          <a:prstGeom prst="roundRect">
            <a:avLst>
              <a:gd name="adj" fmla="val 2907"/>
            </a:avLst>
          </a:prstGeom>
          <a:solidFill>
            <a:srgbClr val="EAF7FD"/>
          </a:solidFill>
          <a:ln w="17780">
            <a:solidFill>
              <a:srgbClr val="007CC3"/>
            </a:solidFill>
            <a:prstDash val="solid"/>
          </a:ln>
          <a:effectLst/>
        </p:spPr>
        <p:txBody>
          <a:bodyPr/>
          <a:lstStyle/>
          <a:p>
            <a:endParaRPr lang="en-US"/>
          </a:p>
        </p:txBody>
      </p:sp>
      <p:sp>
        <p:nvSpPr>
          <p:cNvPr id="8" name="Text 6">
            <a:extLst>
              <a:ext uri="{FF2B5EF4-FFF2-40B4-BE49-F238E27FC236}">
                <a16:creationId xmlns:a16="http://schemas.microsoft.com/office/drawing/2014/main" id="{AC937AE1-9B9B-9199-A76E-B2B37B6D9BD0}"/>
              </a:ext>
            </a:extLst>
          </p:cNvPr>
          <p:cNvSpPr/>
          <p:nvPr/>
        </p:nvSpPr>
        <p:spPr>
          <a:xfrm>
            <a:off x="749808" y="1737360"/>
            <a:ext cx="1993392" cy="246888"/>
          </a:xfrm>
          <a:prstGeom prst="rect">
            <a:avLst/>
          </a:prstGeom>
          <a:noFill/>
          <a:ln/>
        </p:spPr>
        <p:txBody>
          <a:bodyPr wrap="square" lIns="0" tIns="0" rIns="0" bIns="0" rtlCol="0" anchor="ctr"/>
          <a:lstStyle/>
          <a:p>
            <a:pPr marL="0" indent="0" algn="ctr">
              <a:buNone/>
            </a:pPr>
            <a:r>
              <a:rPr lang="en-US" sz="1100" b="1" dirty="0">
                <a:solidFill>
                  <a:srgbClr val="007CC3"/>
                </a:solidFill>
              </a:rPr>
              <a:t>USER / DEVICE</a:t>
            </a:r>
            <a:endParaRPr lang="en-US" sz="1100" dirty="0"/>
          </a:p>
        </p:txBody>
      </p:sp>
      <p:sp>
        <p:nvSpPr>
          <p:cNvPr id="9" name="Text 7">
            <a:extLst>
              <a:ext uri="{FF2B5EF4-FFF2-40B4-BE49-F238E27FC236}">
                <a16:creationId xmlns:a16="http://schemas.microsoft.com/office/drawing/2014/main" id="{B4A228E3-0982-1FE1-33B3-FA931D03B8FF}"/>
              </a:ext>
            </a:extLst>
          </p:cNvPr>
          <p:cNvSpPr/>
          <p:nvPr/>
        </p:nvSpPr>
        <p:spPr>
          <a:xfrm>
            <a:off x="786384" y="2194560"/>
            <a:ext cx="1920240" cy="603504"/>
          </a:xfrm>
          <a:prstGeom prst="rect">
            <a:avLst/>
          </a:prstGeom>
          <a:noFill/>
          <a:ln/>
        </p:spPr>
        <p:txBody>
          <a:bodyPr wrap="square" lIns="254" tIns="254" rIns="254" bIns="254" rtlCol="0" anchor="ctr">
            <a:normAutofit/>
          </a:bodyPr>
          <a:lstStyle/>
          <a:p>
            <a:pPr marL="0" indent="0" algn="ctr">
              <a:buNone/>
            </a:pPr>
            <a:r>
              <a:rPr sz="950" b="0" i="0">
                <a:solidFill>
                  <a:srgbClr val="1F2937"/>
                </a:solidFill>
              </a:rPr>
              <a:t>Any agent (Infosys Foundry, LangGraph, OpenAI-style) with its model on Qualcomm Cloud AI; reviewer on the dashboard; optional UNO Q approval button</a:t>
            </a:r>
            <a:endParaRPr lang="en-US" sz="1150" dirty="0"/>
          </a:p>
        </p:txBody>
      </p:sp>
      <p:sp>
        <p:nvSpPr>
          <p:cNvPr id="10" name="Shape 8">
            <a:extLst>
              <a:ext uri="{FF2B5EF4-FFF2-40B4-BE49-F238E27FC236}">
                <a16:creationId xmlns:a16="http://schemas.microsoft.com/office/drawing/2014/main" id="{223D498E-63CB-4C98-5544-33DE014B29A8}"/>
              </a:ext>
            </a:extLst>
          </p:cNvPr>
          <p:cNvSpPr/>
          <p:nvPr/>
        </p:nvSpPr>
        <p:spPr>
          <a:xfrm>
            <a:off x="2935224" y="1993392"/>
            <a:ext cx="329184" cy="493776"/>
          </a:xfrm>
          <a:prstGeom prst="chevron">
            <a:avLst/>
          </a:prstGeom>
          <a:solidFill>
            <a:srgbClr val="B8C6D1"/>
          </a:solidFill>
          <a:ln w="12700">
            <a:solidFill>
              <a:srgbClr val="B8C6D1"/>
            </a:solidFill>
            <a:prstDash val="solid"/>
          </a:ln>
        </p:spPr>
        <p:txBody>
          <a:bodyPr/>
          <a:lstStyle/>
          <a:p>
            <a:endParaRPr lang="en-US"/>
          </a:p>
        </p:txBody>
      </p:sp>
      <p:sp>
        <p:nvSpPr>
          <p:cNvPr id="11" name="Shape 9">
            <a:extLst>
              <a:ext uri="{FF2B5EF4-FFF2-40B4-BE49-F238E27FC236}">
                <a16:creationId xmlns:a16="http://schemas.microsoft.com/office/drawing/2014/main" id="{5D5C12AC-8141-3434-DBF6-FE60CE10DF80}"/>
              </a:ext>
            </a:extLst>
          </p:cNvPr>
          <p:cNvSpPr/>
          <p:nvPr/>
        </p:nvSpPr>
        <p:spPr>
          <a:xfrm>
            <a:off x="3401568" y="1517904"/>
            <a:ext cx="2249424" cy="1572768"/>
          </a:xfrm>
          <a:prstGeom prst="roundRect">
            <a:avLst>
              <a:gd name="adj" fmla="val 2907"/>
            </a:avLst>
          </a:prstGeom>
          <a:solidFill>
            <a:srgbClr val="F3EEFC"/>
          </a:solidFill>
          <a:ln w="17780">
            <a:solidFill>
              <a:srgbClr val="5417A8"/>
            </a:solidFill>
            <a:prstDash val="solid"/>
          </a:ln>
          <a:effectLst/>
        </p:spPr>
        <p:txBody>
          <a:bodyPr/>
          <a:lstStyle/>
          <a:p>
            <a:endParaRPr lang="en-US"/>
          </a:p>
        </p:txBody>
      </p:sp>
      <p:sp>
        <p:nvSpPr>
          <p:cNvPr id="12" name="Text 10">
            <a:extLst>
              <a:ext uri="{FF2B5EF4-FFF2-40B4-BE49-F238E27FC236}">
                <a16:creationId xmlns:a16="http://schemas.microsoft.com/office/drawing/2014/main" id="{2E952A89-57D4-EF0E-8424-40B83474870A}"/>
              </a:ext>
            </a:extLst>
          </p:cNvPr>
          <p:cNvSpPr/>
          <p:nvPr/>
        </p:nvSpPr>
        <p:spPr>
          <a:xfrm>
            <a:off x="3529584" y="1737360"/>
            <a:ext cx="1993392" cy="246888"/>
          </a:xfrm>
          <a:prstGeom prst="rect">
            <a:avLst/>
          </a:prstGeom>
          <a:noFill/>
          <a:ln/>
        </p:spPr>
        <p:txBody>
          <a:bodyPr wrap="square" lIns="0" tIns="0" rIns="0" bIns="0" rtlCol="0" anchor="ctr"/>
          <a:lstStyle/>
          <a:p>
            <a:pPr marL="0" indent="0" algn="ctr">
              <a:buNone/>
            </a:pPr>
            <a:r>
              <a:rPr lang="en-US" sz="1100" b="1" dirty="0">
                <a:solidFill>
                  <a:srgbClr val="5417A8"/>
                </a:solidFill>
              </a:rPr>
              <a:t>APPLICATION / LOGIC</a:t>
            </a:r>
            <a:endParaRPr lang="en-US" sz="1100" dirty="0"/>
          </a:p>
        </p:txBody>
      </p:sp>
      <p:sp>
        <p:nvSpPr>
          <p:cNvPr id="13" name="Text 11">
            <a:extLst>
              <a:ext uri="{FF2B5EF4-FFF2-40B4-BE49-F238E27FC236}">
                <a16:creationId xmlns:a16="http://schemas.microsoft.com/office/drawing/2014/main" id="{4923AB16-A827-ACE5-2090-A44128AEECB2}"/>
              </a:ext>
            </a:extLst>
          </p:cNvPr>
          <p:cNvSpPr/>
          <p:nvPr/>
        </p:nvSpPr>
        <p:spPr>
          <a:xfrm>
            <a:off x="3566160" y="2194560"/>
            <a:ext cx="1920240" cy="603504"/>
          </a:xfrm>
          <a:prstGeom prst="rect">
            <a:avLst/>
          </a:prstGeom>
          <a:noFill/>
          <a:ln/>
        </p:spPr>
        <p:txBody>
          <a:bodyPr wrap="square" lIns="254" tIns="254" rIns="254" bIns="254" rtlCol="0" anchor="ctr">
            <a:normAutofit/>
          </a:bodyPr>
          <a:lstStyle/>
          <a:p>
            <a:pPr marL="0" indent="0" algn="ctr">
              <a:buNone/>
            </a:pPr>
            <a:r>
              <a:rPr sz="950" b="0" i="0">
                <a:solidFill>
                  <a:srgbClr val="1F2937"/>
                </a:solidFill>
              </a:rPr>
              <a:t>KAVACH gateway (FastAPI, MCP JSON-RPC): manifest pinning, plan check, policy-as-code R1–R12, provenance, HITL queue</a:t>
            </a:r>
            <a:endParaRPr lang="en-US" sz="1150" dirty="0"/>
          </a:p>
        </p:txBody>
      </p:sp>
      <p:sp>
        <p:nvSpPr>
          <p:cNvPr id="14" name="Shape 12">
            <a:extLst>
              <a:ext uri="{FF2B5EF4-FFF2-40B4-BE49-F238E27FC236}">
                <a16:creationId xmlns:a16="http://schemas.microsoft.com/office/drawing/2014/main" id="{982C82C2-6F8D-2406-03EB-0A5055A55007}"/>
              </a:ext>
            </a:extLst>
          </p:cNvPr>
          <p:cNvSpPr/>
          <p:nvPr/>
        </p:nvSpPr>
        <p:spPr>
          <a:xfrm>
            <a:off x="5715000" y="1993392"/>
            <a:ext cx="329184" cy="493776"/>
          </a:xfrm>
          <a:prstGeom prst="chevron">
            <a:avLst/>
          </a:prstGeom>
          <a:solidFill>
            <a:srgbClr val="B8C6D1"/>
          </a:solidFill>
          <a:ln w="12700">
            <a:solidFill>
              <a:srgbClr val="B8C6D1"/>
            </a:solidFill>
            <a:prstDash val="solid"/>
          </a:ln>
        </p:spPr>
        <p:txBody>
          <a:bodyPr/>
          <a:lstStyle/>
          <a:p>
            <a:endParaRPr lang="en-US"/>
          </a:p>
        </p:txBody>
      </p:sp>
      <p:sp>
        <p:nvSpPr>
          <p:cNvPr id="15" name="Shape 13">
            <a:extLst>
              <a:ext uri="{FF2B5EF4-FFF2-40B4-BE49-F238E27FC236}">
                <a16:creationId xmlns:a16="http://schemas.microsoft.com/office/drawing/2014/main" id="{10E4247D-E843-275C-B984-C763628E6E99}"/>
              </a:ext>
            </a:extLst>
          </p:cNvPr>
          <p:cNvSpPr/>
          <p:nvPr/>
        </p:nvSpPr>
        <p:spPr>
          <a:xfrm>
            <a:off x="6181344" y="1517904"/>
            <a:ext cx="2249424" cy="1572768"/>
          </a:xfrm>
          <a:prstGeom prst="roundRect">
            <a:avLst>
              <a:gd name="adj" fmla="val 2907"/>
            </a:avLst>
          </a:prstGeom>
          <a:solidFill>
            <a:srgbClr val="FFF4E8"/>
          </a:solidFill>
          <a:ln w="17780">
            <a:solidFill>
              <a:srgbClr val="F28C28"/>
            </a:solidFill>
            <a:prstDash val="solid"/>
          </a:ln>
          <a:effectLst/>
        </p:spPr>
        <p:txBody>
          <a:bodyPr/>
          <a:lstStyle/>
          <a:p>
            <a:endParaRPr lang="en-US"/>
          </a:p>
        </p:txBody>
      </p:sp>
      <p:sp>
        <p:nvSpPr>
          <p:cNvPr id="16" name="Text 14">
            <a:extLst>
              <a:ext uri="{FF2B5EF4-FFF2-40B4-BE49-F238E27FC236}">
                <a16:creationId xmlns:a16="http://schemas.microsoft.com/office/drawing/2014/main" id="{6A6340B7-0679-B082-38AB-44282D46E4BD}"/>
              </a:ext>
            </a:extLst>
          </p:cNvPr>
          <p:cNvSpPr/>
          <p:nvPr/>
        </p:nvSpPr>
        <p:spPr>
          <a:xfrm>
            <a:off x="6309360" y="1737360"/>
            <a:ext cx="1993392" cy="246888"/>
          </a:xfrm>
          <a:prstGeom prst="rect">
            <a:avLst/>
          </a:prstGeom>
          <a:noFill/>
          <a:ln/>
        </p:spPr>
        <p:txBody>
          <a:bodyPr wrap="square" lIns="0" tIns="0" rIns="0" bIns="0" rtlCol="0" anchor="ctr"/>
          <a:lstStyle/>
          <a:p>
            <a:pPr marL="0" indent="0" algn="ctr">
              <a:buNone/>
            </a:pPr>
            <a:r>
              <a:rPr lang="en-US" sz="1100" b="1" dirty="0">
                <a:solidFill>
                  <a:srgbClr val="F28C28"/>
                </a:solidFill>
              </a:rPr>
              <a:t>AI / DATA LAYER</a:t>
            </a:r>
            <a:endParaRPr lang="en-US" sz="1100" dirty="0"/>
          </a:p>
        </p:txBody>
      </p:sp>
      <p:sp>
        <p:nvSpPr>
          <p:cNvPr id="17" name="Text 15">
            <a:extLst>
              <a:ext uri="{FF2B5EF4-FFF2-40B4-BE49-F238E27FC236}">
                <a16:creationId xmlns:a16="http://schemas.microsoft.com/office/drawing/2014/main" id="{795BF9EA-54C5-31AA-4435-03439C09D40B}"/>
              </a:ext>
            </a:extLst>
          </p:cNvPr>
          <p:cNvSpPr/>
          <p:nvPr/>
        </p:nvSpPr>
        <p:spPr>
          <a:xfrm>
            <a:off x="6345936" y="2194560"/>
            <a:ext cx="1920240" cy="603504"/>
          </a:xfrm>
          <a:prstGeom prst="rect">
            <a:avLst/>
          </a:prstGeom>
          <a:noFill/>
          <a:ln/>
        </p:spPr>
        <p:txBody>
          <a:bodyPr wrap="square" lIns="254" tIns="254" rIns="254" bIns="254" rtlCol="0" anchor="ctr">
            <a:normAutofit/>
          </a:bodyPr>
          <a:lstStyle/>
          <a:p>
            <a:pPr marL="0" indent="0" algn="ctr">
              <a:buNone/>
            </a:pPr>
            <a:r>
              <a:rPr sz="950" b="0" i="0">
                <a:solidFill>
                  <a:srgbClr val="1F2937"/>
                </a:solidFill>
              </a:rPr>
              <a:t>Sandbox diff (SQLite / files) · 18-feature calibrated risk model · reasoning-blind intent judge + explainer (Llama on Qualcomm)</a:t>
            </a:r>
            <a:endParaRPr lang="en-US" sz="1150" dirty="0"/>
          </a:p>
        </p:txBody>
      </p:sp>
      <p:sp>
        <p:nvSpPr>
          <p:cNvPr id="18" name="Shape 16">
            <a:extLst>
              <a:ext uri="{FF2B5EF4-FFF2-40B4-BE49-F238E27FC236}">
                <a16:creationId xmlns:a16="http://schemas.microsoft.com/office/drawing/2014/main" id="{0DC59F95-BE2E-2797-4BC0-17ADDD25224B}"/>
              </a:ext>
            </a:extLst>
          </p:cNvPr>
          <p:cNvSpPr/>
          <p:nvPr/>
        </p:nvSpPr>
        <p:spPr>
          <a:xfrm>
            <a:off x="8494776" y="1993392"/>
            <a:ext cx="329184" cy="493776"/>
          </a:xfrm>
          <a:prstGeom prst="chevron">
            <a:avLst/>
          </a:prstGeom>
          <a:solidFill>
            <a:srgbClr val="B8C6D1"/>
          </a:solidFill>
          <a:ln w="12700">
            <a:solidFill>
              <a:srgbClr val="B8C6D1"/>
            </a:solidFill>
            <a:prstDash val="solid"/>
          </a:ln>
        </p:spPr>
        <p:txBody>
          <a:bodyPr/>
          <a:lstStyle/>
          <a:p>
            <a:endParaRPr lang="en-US"/>
          </a:p>
        </p:txBody>
      </p:sp>
      <p:sp>
        <p:nvSpPr>
          <p:cNvPr id="19" name="Shape 17">
            <a:extLst>
              <a:ext uri="{FF2B5EF4-FFF2-40B4-BE49-F238E27FC236}">
                <a16:creationId xmlns:a16="http://schemas.microsoft.com/office/drawing/2014/main" id="{7EB9165A-67EC-3178-70D8-9B83A33FDD1D}"/>
              </a:ext>
            </a:extLst>
          </p:cNvPr>
          <p:cNvSpPr/>
          <p:nvPr/>
        </p:nvSpPr>
        <p:spPr>
          <a:xfrm>
            <a:off x="8961120" y="1517904"/>
            <a:ext cx="2249424" cy="1572768"/>
          </a:xfrm>
          <a:prstGeom prst="roundRect">
            <a:avLst>
              <a:gd name="adj" fmla="val 2907"/>
            </a:avLst>
          </a:prstGeom>
          <a:solidFill>
            <a:srgbClr val="EFF7E9"/>
          </a:solidFill>
          <a:ln w="17780">
            <a:solidFill>
              <a:srgbClr val="63A845"/>
            </a:solidFill>
            <a:prstDash val="solid"/>
          </a:ln>
          <a:effectLst/>
        </p:spPr>
        <p:txBody>
          <a:bodyPr/>
          <a:lstStyle/>
          <a:p>
            <a:endParaRPr lang="en-US"/>
          </a:p>
        </p:txBody>
      </p:sp>
      <p:sp>
        <p:nvSpPr>
          <p:cNvPr id="20" name="Text 18">
            <a:extLst>
              <a:ext uri="{FF2B5EF4-FFF2-40B4-BE49-F238E27FC236}">
                <a16:creationId xmlns:a16="http://schemas.microsoft.com/office/drawing/2014/main" id="{046464D4-1CD6-AB8D-F6AB-D7C4C45C1DEB}"/>
              </a:ext>
            </a:extLst>
          </p:cNvPr>
          <p:cNvSpPr/>
          <p:nvPr/>
        </p:nvSpPr>
        <p:spPr>
          <a:xfrm>
            <a:off x="9089136" y="1737360"/>
            <a:ext cx="1993392" cy="246888"/>
          </a:xfrm>
          <a:prstGeom prst="rect">
            <a:avLst/>
          </a:prstGeom>
          <a:noFill/>
          <a:ln/>
        </p:spPr>
        <p:txBody>
          <a:bodyPr wrap="square" lIns="0" tIns="0" rIns="0" bIns="0" rtlCol="0" anchor="ctr"/>
          <a:lstStyle/>
          <a:p>
            <a:pPr marL="0" indent="0" algn="ctr">
              <a:buNone/>
            </a:pPr>
            <a:r>
              <a:rPr lang="en-US" sz="1100" b="1" dirty="0">
                <a:solidFill>
                  <a:srgbClr val="63A845"/>
                </a:solidFill>
              </a:rPr>
              <a:t>OUTPUT / ACTION</a:t>
            </a:r>
            <a:endParaRPr lang="en-US" sz="1100" dirty="0"/>
          </a:p>
        </p:txBody>
      </p:sp>
      <p:sp>
        <p:nvSpPr>
          <p:cNvPr id="21" name="Text 19">
            <a:extLst>
              <a:ext uri="{FF2B5EF4-FFF2-40B4-BE49-F238E27FC236}">
                <a16:creationId xmlns:a16="http://schemas.microsoft.com/office/drawing/2014/main" id="{605D073B-EE1E-AEE6-1073-30E6B79695C0}"/>
              </a:ext>
            </a:extLst>
          </p:cNvPr>
          <p:cNvSpPr/>
          <p:nvPr/>
        </p:nvSpPr>
        <p:spPr>
          <a:xfrm>
            <a:off x="9125712" y="2194560"/>
            <a:ext cx="1920240" cy="603504"/>
          </a:xfrm>
          <a:prstGeom prst="rect">
            <a:avLst/>
          </a:prstGeom>
          <a:noFill/>
          <a:ln/>
        </p:spPr>
        <p:txBody>
          <a:bodyPr wrap="square" lIns="254" tIns="254" rIns="254" bIns="254" rtlCol="0" anchor="ctr">
            <a:normAutofit/>
          </a:bodyPr>
          <a:lstStyle/>
          <a:p>
            <a:pPr marL="0" indent="0" algn="ctr">
              <a:buNone/>
            </a:pPr>
            <a:r>
              <a:rPr sz="950" b="0" i="0">
                <a:solidFill>
                  <a:srgbClr val="1F2937"/>
                </a:solidFill>
              </a:rPr>
              <a:t>Verdict + 4-light scorecard · consequence card · undo · replan hint · tamper-evident receipt</a:t>
            </a:r>
            <a:endParaRPr lang="en-US" sz="1150" dirty="0"/>
          </a:p>
        </p:txBody>
      </p:sp>
      <p:sp>
        <p:nvSpPr>
          <p:cNvPr id="22" name="Shape 20">
            <a:extLst>
              <a:ext uri="{FF2B5EF4-FFF2-40B4-BE49-F238E27FC236}">
                <a16:creationId xmlns:a16="http://schemas.microsoft.com/office/drawing/2014/main" id="{9F9CAB70-B337-8320-AFC5-CB6BAACB78ED}"/>
              </a:ext>
            </a:extLst>
          </p:cNvPr>
          <p:cNvSpPr/>
          <p:nvPr/>
        </p:nvSpPr>
        <p:spPr>
          <a:xfrm>
            <a:off x="621792" y="3456432"/>
            <a:ext cx="3675888" cy="1078992"/>
          </a:xfrm>
          <a:prstGeom prst="roundRect">
            <a:avLst>
              <a:gd name="adj" fmla="val 4237"/>
            </a:avLst>
          </a:prstGeom>
          <a:solidFill>
            <a:srgbClr val="FFFFFF"/>
          </a:solidFill>
          <a:ln w="12700">
            <a:solidFill>
              <a:srgbClr val="DCE5EC"/>
            </a:solidFill>
            <a:prstDash val="solid"/>
          </a:ln>
          <a:effectLst/>
        </p:spPr>
        <p:txBody>
          <a:bodyPr/>
          <a:lstStyle/>
          <a:p>
            <a:endParaRPr lang="en-US"/>
          </a:p>
        </p:txBody>
      </p:sp>
      <p:sp>
        <p:nvSpPr>
          <p:cNvPr id="23" name="Text 21">
            <a:extLst>
              <a:ext uri="{FF2B5EF4-FFF2-40B4-BE49-F238E27FC236}">
                <a16:creationId xmlns:a16="http://schemas.microsoft.com/office/drawing/2014/main" id="{44A828D5-1EA1-FFC3-C801-53E2D08CFAA6}"/>
              </a:ext>
            </a:extLst>
          </p:cNvPr>
          <p:cNvSpPr/>
          <p:nvPr/>
        </p:nvSpPr>
        <p:spPr>
          <a:xfrm>
            <a:off x="786384" y="3584448"/>
            <a:ext cx="3346704" cy="164592"/>
          </a:xfrm>
          <a:prstGeom prst="rect">
            <a:avLst/>
          </a:prstGeom>
          <a:noFill/>
          <a:ln/>
        </p:spPr>
        <p:txBody>
          <a:bodyPr wrap="square" lIns="0" tIns="0" rIns="0" bIns="0" rtlCol="0" anchor="ctr"/>
          <a:lstStyle/>
          <a:p>
            <a:pPr marL="0" indent="0">
              <a:buNone/>
            </a:pPr>
            <a:r>
              <a:rPr lang="en-US" sz="850" b="1" kern="0" spc="70" dirty="0">
                <a:solidFill>
                  <a:srgbClr val="007CC3"/>
                </a:solidFill>
              </a:rPr>
              <a:t>TECHNOLOGY CHOICES</a:t>
            </a:r>
            <a:endParaRPr lang="en-US" sz="850" dirty="0"/>
          </a:p>
        </p:txBody>
      </p:sp>
      <p:sp>
        <p:nvSpPr>
          <p:cNvPr id="24" name="Text 22">
            <a:extLst>
              <a:ext uri="{FF2B5EF4-FFF2-40B4-BE49-F238E27FC236}">
                <a16:creationId xmlns:a16="http://schemas.microsoft.com/office/drawing/2014/main" id="{66E0F82F-940E-8150-FFD0-CB54E47DDFCE}"/>
              </a:ext>
            </a:extLst>
          </p:cNvPr>
          <p:cNvSpPr/>
          <p:nvPr/>
        </p:nvSpPr>
        <p:spPr>
          <a:xfrm>
            <a:off x="786384" y="3849624"/>
            <a:ext cx="3346704" cy="566928"/>
          </a:xfrm>
          <a:prstGeom prst="rect">
            <a:avLst/>
          </a:prstGeom>
          <a:noFill/>
          <a:ln/>
        </p:spPr>
        <p:txBody>
          <a:bodyPr wrap="square" lIns="254" tIns="254" rIns="254" bIns="254" rtlCol="0" anchor="ctr">
            <a:normAutofit/>
          </a:bodyPr>
          <a:lstStyle/>
          <a:p>
            <a:pPr marL="0" indent="0">
              <a:buNone/>
            </a:pPr>
            <a:r>
              <a:rPr sz="950" b="0" i="0">
                <a:solidFill>
                  <a:srgbClr val="1F2937"/>
                </a:solidFill>
              </a:rPr>
              <a:t>Python 3.11, FastAPI, SQLite, NumPy + scikit-learn, YAML policy-as-code, SHA-256 + HMAC, Qualcomm Imagine API (OpenAI-format chat/completions), vanilla-JS UI</a:t>
            </a:r>
            <a:endParaRPr lang="en-US" sz="1200" dirty="0"/>
          </a:p>
        </p:txBody>
      </p:sp>
      <p:sp>
        <p:nvSpPr>
          <p:cNvPr id="25" name="Shape 23">
            <a:extLst>
              <a:ext uri="{FF2B5EF4-FFF2-40B4-BE49-F238E27FC236}">
                <a16:creationId xmlns:a16="http://schemas.microsoft.com/office/drawing/2014/main" id="{87F13FAB-C1EC-0177-82D2-F896E864A152}"/>
              </a:ext>
            </a:extLst>
          </p:cNvPr>
          <p:cNvSpPr/>
          <p:nvPr/>
        </p:nvSpPr>
        <p:spPr>
          <a:xfrm>
            <a:off x="4480560" y="3456432"/>
            <a:ext cx="3675888" cy="1078992"/>
          </a:xfrm>
          <a:prstGeom prst="roundRect">
            <a:avLst>
              <a:gd name="adj" fmla="val 4237"/>
            </a:avLst>
          </a:prstGeom>
          <a:solidFill>
            <a:srgbClr val="FFFFFF"/>
          </a:solidFill>
          <a:ln w="12700">
            <a:solidFill>
              <a:srgbClr val="DCE5EC"/>
            </a:solidFill>
            <a:prstDash val="solid"/>
          </a:ln>
          <a:effectLst/>
        </p:spPr>
        <p:txBody>
          <a:bodyPr/>
          <a:lstStyle/>
          <a:p>
            <a:endParaRPr lang="en-US"/>
          </a:p>
        </p:txBody>
      </p:sp>
      <p:sp>
        <p:nvSpPr>
          <p:cNvPr id="26" name="Text 24">
            <a:extLst>
              <a:ext uri="{FF2B5EF4-FFF2-40B4-BE49-F238E27FC236}">
                <a16:creationId xmlns:a16="http://schemas.microsoft.com/office/drawing/2014/main" id="{5CC225F5-C44D-CE5D-5355-896FEC671C71}"/>
              </a:ext>
            </a:extLst>
          </p:cNvPr>
          <p:cNvSpPr/>
          <p:nvPr/>
        </p:nvSpPr>
        <p:spPr>
          <a:xfrm>
            <a:off x="4645152" y="3584448"/>
            <a:ext cx="3346704" cy="164592"/>
          </a:xfrm>
          <a:prstGeom prst="rect">
            <a:avLst/>
          </a:prstGeom>
          <a:noFill/>
          <a:ln/>
        </p:spPr>
        <p:txBody>
          <a:bodyPr wrap="square" lIns="0" tIns="0" rIns="0" bIns="0" rtlCol="0" anchor="ctr"/>
          <a:lstStyle/>
          <a:p>
            <a:pPr marL="0" indent="0">
              <a:buNone/>
            </a:pPr>
            <a:r>
              <a:rPr lang="en-US" sz="850" b="1" kern="0" spc="70" dirty="0">
                <a:solidFill>
                  <a:srgbClr val="5417A8"/>
                </a:solidFill>
              </a:rPr>
              <a:t>ENGINEERING RATIONALE</a:t>
            </a:r>
            <a:endParaRPr lang="en-US" sz="850" dirty="0"/>
          </a:p>
        </p:txBody>
      </p:sp>
      <p:sp>
        <p:nvSpPr>
          <p:cNvPr id="27" name="Text 25">
            <a:extLst>
              <a:ext uri="{FF2B5EF4-FFF2-40B4-BE49-F238E27FC236}">
                <a16:creationId xmlns:a16="http://schemas.microsoft.com/office/drawing/2014/main" id="{82B0562F-A937-0D7F-DB67-97891BB9E2A5}"/>
              </a:ext>
            </a:extLst>
          </p:cNvPr>
          <p:cNvSpPr/>
          <p:nvPr/>
        </p:nvSpPr>
        <p:spPr>
          <a:xfrm>
            <a:off x="4645152" y="3849624"/>
            <a:ext cx="3346704" cy="566928"/>
          </a:xfrm>
          <a:prstGeom prst="rect">
            <a:avLst/>
          </a:prstGeom>
          <a:noFill/>
          <a:ln/>
        </p:spPr>
        <p:txBody>
          <a:bodyPr wrap="square" lIns="254" tIns="254" rIns="254" bIns="254" rtlCol="0" anchor="ctr">
            <a:normAutofit/>
          </a:bodyPr>
          <a:lstStyle/>
          <a:p>
            <a:pPr marL="0" indent="0">
              <a:buNone/>
            </a:pPr>
            <a:r>
              <a:rPr sz="950" b="0" i="0">
                <a:solidFill>
                  <a:srgbClr val="1F2937"/>
                </a:solidFill>
              </a:rPr>
              <a:t>Cheap and deterministic first, probabilistic last: ~1 ms gates stop most attacks; the LLM only sees ambiguous calls and can only raise scrutiny. MCP makes it drop-in for Foundry.</a:t>
            </a:r>
            <a:endParaRPr lang="en-US" sz="1200" dirty="0"/>
          </a:p>
        </p:txBody>
      </p:sp>
      <p:sp>
        <p:nvSpPr>
          <p:cNvPr id="28" name="Shape 26">
            <a:extLst>
              <a:ext uri="{FF2B5EF4-FFF2-40B4-BE49-F238E27FC236}">
                <a16:creationId xmlns:a16="http://schemas.microsoft.com/office/drawing/2014/main" id="{815A366A-1EE2-88F4-56F2-42C078164B5E}"/>
              </a:ext>
            </a:extLst>
          </p:cNvPr>
          <p:cNvSpPr/>
          <p:nvPr/>
        </p:nvSpPr>
        <p:spPr>
          <a:xfrm>
            <a:off x="8339328" y="3456432"/>
            <a:ext cx="2871216" cy="1078992"/>
          </a:xfrm>
          <a:prstGeom prst="roundRect">
            <a:avLst>
              <a:gd name="adj" fmla="val 4237"/>
            </a:avLst>
          </a:prstGeom>
          <a:solidFill>
            <a:srgbClr val="FFFFFF"/>
          </a:solidFill>
          <a:ln w="12700">
            <a:solidFill>
              <a:srgbClr val="DCE5EC"/>
            </a:solidFill>
            <a:prstDash val="solid"/>
          </a:ln>
          <a:effectLst/>
        </p:spPr>
        <p:txBody>
          <a:bodyPr/>
          <a:lstStyle/>
          <a:p>
            <a:endParaRPr lang="en-US"/>
          </a:p>
        </p:txBody>
      </p:sp>
      <p:sp>
        <p:nvSpPr>
          <p:cNvPr id="29" name="Text 27">
            <a:extLst>
              <a:ext uri="{FF2B5EF4-FFF2-40B4-BE49-F238E27FC236}">
                <a16:creationId xmlns:a16="http://schemas.microsoft.com/office/drawing/2014/main" id="{36686840-71C6-A9F9-75E4-170B0B1182B6}"/>
              </a:ext>
            </a:extLst>
          </p:cNvPr>
          <p:cNvSpPr/>
          <p:nvPr/>
        </p:nvSpPr>
        <p:spPr>
          <a:xfrm>
            <a:off x="8503920" y="3584448"/>
            <a:ext cx="2542032" cy="164592"/>
          </a:xfrm>
          <a:prstGeom prst="rect">
            <a:avLst/>
          </a:prstGeom>
          <a:noFill/>
          <a:ln/>
        </p:spPr>
        <p:txBody>
          <a:bodyPr wrap="square" lIns="0" tIns="0" rIns="0" bIns="0" rtlCol="0" anchor="ctr"/>
          <a:lstStyle/>
          <a:p>
            <a:pPr marL="0" indent="0">
              <a:buNone/>
            </a:pPr>
            <a:r>
              <a:rPr lang="en-US" sz="850" b="1" kern="0" spc="70" dirty="0">
                <a:solidFill>
                  <a:srgbClr val="63A845"/>
                </a:solidFill>
              </a:rPr>
              <a:t>VALIDATION / RELIABILITY</a:t>
            </a:r>
            <a:endParaRPr lang="en-US" sz="850" dirty="0"/>
          </a:p>
        </p:txBody>
      </p:sp>
      <p:sp>
        <p:nvSpPr>
          <p:cNvPr id="30" name="Text 28">
            <a:extLst>
              <a:ext uri="{FF2B5EF4-FFF2-40B4-BE49-F238E27FC236}">
                <a16:creationId xmlns:a16="http://schemas.microsoft.com/office/drawing/2014/main" id="{C7CB37CB-C380-2D9F-165F-2A8122EB8261}"/>
              </a:ext>
            </a:extLst>
          </p:cNvPr>
          <p:cNvSpPr/>
          <p:nvPr/>
        </p:nvSpPr>
        <p:spPr>
          <a:xfrm>
            <a:off x="8503920" y="3849624"/>
            <a:ext cx="2542032" cy="566928"/>
          </a:xfrm>
          <a:prstGeom prst="rect">
            <a:avLst/>
          </a:prstGeom>
          <a:noFill/>
          <a:ln/>
        </p:spPr>
        <p:txBody>
          <a:bodyPr wrap="square" lIns="254" tIns="254" rIns="254" bIns="254" rtlCol="0" anchor="ctr">
            <a:normAutofit/>
          </a:bodyPr>
          <a:lstStyle/>
          <a:p>
            <a:pPr marL="0" indent="0">
              <a:buNone/>
            </a:pPr>
            <a:r>
              <a:rPr sz="900" b="0" i="0">
                <a:solidFill>
                  <a:srgbClr val="1F2937"/>
                </a:solidFill>
              </a:rPr>
              <a:t>12 tests; 740 labelled scenarios × 5 seeds; post-execution check auto-rolls back; LLM down → heuristic fallback; unknown tool → fail closed.</a:t>
            </a:r>
            <a:endParaRPr lang="en-US" sz="1200" dirty="0"/>
          </a:p>
        </p:txBody>
      </p:sp>
      <p:grpSp>
        <p:nvGrpSpPr>
          <p:cNvPr id="36" name="Group 35">
            <a:extLst>
              <a:ext uri="{FF2B5EF4-FFF2-40B4-BE49-F238E27FC236}">
                <a16:creationId xmlns:a16="http://schemas.microsoft.com/office/drawing/2014/main" id="{E9CECD31-9346-B133-361B-91810BDBDC9F}"/>
              </a:ext>
            </a:extLst>
          </p:cNvPr>
          <p:cNvGrpSpPr/>
          <p:nvPr/>
        </p:nvGrpSpPr>
        <p:grpSpPr>
          <a:xfrm>
            <a:off x="566928" y="4663440"/>
            <a:ext cx="10643616" cy="1088136"/>
            <a:chOff x="439137" y="4937760"/>
            <a:chExt cx="11228832" cy="1088136"/>
          </a:xfrm>
        </p:grpSpPr>
        <p:sp>
          <p:nvSpPr>
            <p:cNvPr id="31" name="Shape 29">
              <a:extLst>
                <a:ext uri="{FF2B5EF4-FFF2-40B4-BE49-F238E27FC236}">
                  <a16:creationId xmlns:a16="http://schemas.microsoft.com/office/drawing/2014/main" id="{432B9BDE-B7B0-9F10-900A-DBCB797ECDC0}"/>
                </a:ext>
              </a:extLst>
            </p:cNvPr>
            <p:cNvSpPr/>
            <p:nvPr/>
          </p:nvSpPr>
          <p:spPr>
            <a:xfrm>
              <a:off x="439137" y="4937760"/>
              <a:ext cx="11228832" cy="960120"/>
            </a:xfrm>
            <a:prstGeom prst="roundRect">
              <a:avLst>
                <a:gd name="adj" fmla="val 5714"/>
              </a:avLst>
            </a:prstGeom>
            <a:solidFill>
              <a:srgbClr val="F8FAFC"/>
            </a:solidFill>
            <a:ln w="12700">
              <a:solidFill>
                <a:srgbClr val="DCE5EC"/>
              </a:solidFill>
              <a:prstDash val="solid"/>
            </a:ln>
          </p:spPr>
          <p:txBody>
            <a:bodyPr/>
            <a:lstStyle/>
            <a:p>
              <a:endParaRPr lang="en-US"/>
            </a:p>
          </p:txBody>
        </p:sp>
        <p:sp>
          <p:nvSpPr>
            <p:cNvPr id="32" name="Shape 30">
              <a:extLst>
                <a:ext uri="{FF2B5EF4-FFF2-40B4-BE49-F238E27FC236}">
                  <a16:creationId xmlns:a16="http://schemas.microsoft.com/office/drawing/2014/main" id="{5154E5A4-0722-E4BF-5BA4-92434E8B54EF}"/>
                </a:ext>
              </a:extLst>
            </p:cNvPr>
            <p:cNvSpPr/>
            <p:nvPr/>
          </p:nvSpPr>
          <p:spPr>
            <a:xfrm>
              <a:off x="475488" y="4937760"/>
              <a:ext cx="82296" cy="960120"/>
            </a:xfrm>
            <a:prstGeom prst="rect">
              <a:avLst/>
            </a:prstGeom>
            <a:solidFill>
              <a:srgbClr val="5417A8"/>
            </a:solidFill>
            <a:ln w="12700">
              <a:solidFill>
                <a:srgbClr val="5417A8"/>
              </a:solidFill>
              <a:prstDash val="solid"/>
            </a:ln>
          </p:spPr>
          <p:txBody>
            <a:bodyPr/>
            <a:lstStyle/>
            <a:p>
              <a:endParaRPr lang="en-US"/>
            </a:p>
          </p:txBody>
        </p:sp>
        <p:sp>
          <p:nvSpPr>
            <p:cNvPr id="33" name="Text 31">
              <a:extLst>
                <a:ext uri="{FF2B5EF4-FFF2-40B4-BE49-F238E27FC236}">
                  <a16:creationId xmlns:a16="http://schemas.microsoft.com/office/drawing/2014/main" id="{8B99DE13-20C0-89C2-4080-05D8735E2B76}"/>
                </a:ext>
              </a:extLst>
            </p:cNvPr>
            <p:cNvSpPr/>
            <p:nvPr/>
          </p:nvSpPr>
          <p:spPr>
            <a:xfrm>
              <a:off x="749808" y="5050336"/>
              <a:ext cx="960120" cy="164592"/>
            </a:xfrm>
            <a:prstGeom prst="rect">
              <a:avLst/>
            </a:prstGeom>
            <a:noFill/>
            <a:ln/>
          </p:spPr>
          <p:txBody>
            <a:bodyPr wrap="square" lIns="0" tIns="0" rIns="0" bIns="0" rtlCol="0" anchor="ctr"/>
            <a:lstStyle/>
            <a:p>
              <a:pPr marL="0" indent="0">
                <a:buNone/>
              </a:pPr>
              <a:r>
                <a:rPr sz="900" b="1" i="0">
                  <a:solidFill>
                    <a:srgbClr val="5417A8"/>
                  </a:solidFill>
                </a:rPr>
                <a:t>DESIGN DECISION</a:t>
              </a:r>
              <a:endParaRPr lang="en-US" sz="900" dirty="0"/>
            </a:p>
          </p:txBody>
        </p:sp>
        <p:sp>
          <p:nvSpPr>
            <p:cNvPr id="34" name="Text 32">
              <a:extLst>
                <a:ext uri="{FF2B5EF4-FFF2-40B4-BE49-F238E27FC236}">
                  <a16:creationId xmlns:a16="http://schemas.microsoft.com/office/drawing/2014/main" id="{CE201EC5-B2F4-3153-A5BD-B26F8647F63D}"/>
                </a:ext>
              </a:extLst>
            </p:cNvPr>
            <p:cNvSpPr/>
            <p:nvPr/>
          </p:nvSpPr>
          <p:spPr>
            <a:xfrm>
              <a:off x="1993392" y="5230368"/>
              <a:ext cx="9326880" cy="795528"/>
            </a:xfrm>
            <a:prstGeom prst="rect">
              <a:avLst/>
            </a:prstGeom>
            <a:noFill/>
            <a:ln/>
          </p:spPr>
          <p:txBody>
            <a:bodyPr wrap="square" lIns="381" tIns="381" rIns="381" bIns="381" rtlCol="0" anchor="ctr"/>
            <a:lstStyle/>
            <a:p>
              <a:pPr marL="177800" indent="-177800">
                <a:buSzPct val="100000"/>
                <a:buChar char="•"/>
              </a:pPr>
              <a:r>
                <a:rPr sz="1050" b="1" i="0">
                  <a:solidFill>
                    <a:srgbClr val="1F2937"/>
                  </a:solidFill>
                </a:rPr>
                <a:t>Authorization is code, not a model.</a:t>
              </a:r>
              <a:r>
                <a:rPr sz="1050" b="0" i="0">
                  <a:solidFill>
                    <a:srgbClr val="1F2937"/>
                  </a:solidFill>
                </a:rPr>
                <a:t> A model that reads agent-adjacent text can be prompt-injected; a rule that checks where the recipient came from cannot.</a:t>
              </a:r>
              <a:endParaRPr lang="en-US" sz="1100" dirty="0"/>
            </a:p>
            <a:p>
              <a:pPr marL="177800" indent="-177800">
                <a:buSzPct val="100000"/>
                <a:buChar char="•"/>
              </a:pPr>
              <a:r>
                <a:rPr sz="1050" b="1" i="0">
                  <a:solidFill>
                    <a:srgbClr val="1F2937"/>
                  </a:solidFill>
                </a:rPr>
                <a:t>Constraint we designed around:</a:t>
              </a:r>
              <a:r>
                <a:rPr sz="1050" b="0" i="0">
                  <a:solidFill>
                    <a:srgbClr val="1F2937"/>
                  </a:solidFill>
                </a:rPr>
                <a:t> email and payments cannot be sandboxed, so their blast radius is predicted from typed arguments and labelled “predicted”. Decision latency p50 0.8 ms / p95 2.3 ms.</a:t>
              </a:r>
            </a:p>
          </p:txBody>
        </p:sp>
      </p:grpSp>
      <p:sp>
        <p:nvSpPr>
          <p:cNvPr id="35" name="Slide Number Placeholder 0">
            <a:extLst>
              <a:ext uri="{FF2B5EF4-FFF2-40B4-BE49-F238E27FC236}">
                <a16:creationId xmlns:a16="http://schemas.microsoft.com/office/drawing/2014/main" id="{F7E2D82D-0BB9-C325-982D-2E558A022841}"/>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5</a:t>
            </a:fld>
            <a:endParaRPr lang="en-US"/>
          </a:p>
        </p:txBody>
      </p:sp>
    </p:spTree>
    <p:extLst>
      <p:ext uri="{BB962C8B-B14F-4D97-AF65-F5344CB8AC3E}">
        <p14:creationId xmlns:p14="http://schemas.microsoft.com/office/powerpoint/2010/main" val="1531607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0083E88-70F7-CA62-AE05-4BFEBB0BFC2C}"/>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AI Usage &amp; Innovation</a:t>
            </a:r>
            <a:endParaRPr lang="en-US" sz="2400" dirty="0"/>
          </a:p>
        </p:txBody>
      </p:sp>
      <p:sp>
        <p:nvSpPr>
          <p:cNvPr id="3" name="Text 1">
            <a:extLst>
              <a:ext uri="{FF2B5EF4-FFF2-40B4-BE49-F238E27FC236}">
                <a16:creationId xmlns:a16="http://schemas.microsoft.com/office/drawing/2014/main" id="{427B73A9-2566-B743-B014-B875767223F0}"/>
              </a:ext>
            </a:extLst>
          </p:cNvPr>
          <p:cNvSpPr/>
          <p:nvPr/>
        </p:nvSpPr>
        <p:spPr>
          <a:xfrm>
            <a:off x="475488" y="658368"/>
            <a:ext cx="8823960" cy="219456"/>
          </a:xfrm>
          <a:prstGeom prst="rect">
            <a:avLst/>
          </a:prstGeom>
          <a:noFill/>
          <a:ln/>
        </p:spPr>
        <p:txBody>
          <a:bodyPr wrap="square" lIns="0" tIns="0" rIns="0" bIns="0" rtlCol="0" anchor="ctr"/>
          <a:lstStyle/>
          <a:p>
            <a:pPr marL="0" indent="0">
              <a:buNone/>
            </a:pPr>
            <a:r>
              <a:rPr lang="en-US" sz="1050" dirty="0">
                <a:solidFill>
                  <a:srgbClr val="5B6573"/>
                </a:solidFill>
              </a:rPr>
              <a:t>Demonstrate meaningful AI use, not AI added only for appearance.</a:t>
            </a:r>
            <a:endParaRPr lang="en-US" sz="1050" dirty="0"/>
          </a:p>
        </p:txBody>
      </p:sp>
      <p:sp>
        <p:nvSpPr>
          <p:cNvPr id="5" name="Text 3">
            <a:extLst>
              <a:ext uri="{FF2B5EF4-FFF2-40B4-BE49-F238E27FC236}">
                <a16:creationId xmlns:a16="http://schemas.microsoft.com/office/drawing/2014/main" id="{C55C909D-A0E0-EA5E-27F8-6FE7B4FC5003}"/>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0:45</a:t>
            </a:r>
            <a:endParaRPr lang="en-US" sz="850" dirty="0"/>
          </a:p>
        </p:txBody>
      </p:sp>
      <p:sp>
        <p:nvSpPr>
          <p:cNvPr id="7" name="Shape 5">
            <a:extLst>
              <a:ext uri="{FF2B5EF4-FFF2-40B4-BE49-F238E27FC236}">
                <a16:creationId xmlns:a16="http://schemas.microsoft.com/office/drawing/2014/main" id="{AB0320BF-4576-44DC-008E-7170FC5D54B6}"/>
              </a:ext>
            </a:extLst>
          </p:cNvPr>
          <p:cNvSpPr/>
          <p:nvPr/>
        </p:nvSpPr>
        <p:spPr>
          <a:xfrm>
            <a:off x="548640" y="1097280"/>
            <a:ext cx="6565392" cy="822960"/>
          </a:xfrm>
          <a:prstGeom prst="roundRect">
            <a:avLst>
              <a:gd name="adj" fmla="val 5556"/>
            </a:avLst>
          </a:prstGeom>
          <a:solidFill>
            <a:srgbClr val="FFFFFF"/>
          </a:solidFill>
          <a:ln w="12700">
            <a:solidFill>
              <a:srgbClr val="DCE5EC"/>
            </a:solidFill>
            <a:prstDash val="solid"/>
          </a:ln>
          <a:effectLst/>
        </p:spPr>
        <p:txBody>
          <a:bodyPr/>
          <a:lstStyle/>
          <a:p>
            <a:endParaRPr lang="en-US"/>
          </a:p>
        </p:txBody>
      </p:sp>
      <p:sp>
        <p:nvSpPr>
          <p:cNvPr id="8" name="Text 6">
            <a:extLst>
              <a:ext uri="{FF2B5EF4-FFF2-40B4-BE49-F238E27FC236}">
                <a16:creationId xmlns:a16="http://schemas.microsoft.com/office/drawing/2014/main" id="{A71FA962-3E84-81BE-E032-5CA447B1776D}"/>
              </a:ext>
            </a:extLst>
          </p:cNvPr>
          <p:cNvSpPr/>
          <p:nvPr/>
        </p:nvSpPr>
        <p:spPr>
          <a:xfrm>
            <a:off x="713232" y="1225296"/>
            <a:ext cx="6236208" cy="164592"/>
          </a:xfrm>
          <a:prstGeom prst="rect">
            <a:avLst/>
          </a:prstGeom>
          <a:noFill/>
          <a:ln/>
        </p:spPr>
        <p:txBody>
          <a:bodyPr wrap="square" lIns="0" tIns="0" rIns="0" bIns="0" rtlCol="0" anchor="ctr"/>
          <a:lstStyle/>
          <a:p>
            <a:pPr marL="0" indent="0">
              <a:buNone/>
            </a:pPr>
            <a:r>
              <a:rPr lang="en-US" sz="850" b="1" kern="0" spc="70" dirty="0">
                <a:solidFill>
                  <a:srgbClr val="5417A8"/>
                </a:solidFill>
              </a:rPr>
              <a:t>AI CAPABILITY USED</a:t>
            </a:r>
            <a:endParaRPr lang="en-US" sz="850" dirty="0"/>
          </a:p>
        </p:txBody>
      </p:sp>
      <p:sp>
        <p:nvSpPr>
          <p:cNvPr id="9" name="Text 7">
            <a:extLst>
              <a:ext uri="{FF2B5EF4-FFF2-40B4-BE49-F238E27FC236}">
                <a16:creationId xmlns:a16="http://schemas.microsoft.com/office/drawing/2014/main" id="{9477DE1A-2424-E361-E905-AE829023E9C0}"/>
              </a:ext>
            </a:extLst>
          </p:cNvPr>
          <p:cNvSpPr/>
          <p:nvPr/>
        </p:nvSpPr>
        <p:spPr>
          <a:xfrm>
            <a:off x="713232" y="1490472"/>
            <a:ext cx="6236208" cy="310896"/>
          </a:xfrm>
          <a:prstGeom prst="rect">
            <a:avLst/>
          </a:prstGeom>
          <a:noFill/>
          <a:ln/>
        </p:spPr>
        <p:txBody>
          <a:bodyPr wrap="square" lIns="254" tIns="254" rIns="254" bIns="254" rtlCol="0" anchor="ctr">
            <a:normAutofit fontScale="62500" lnSpcReduction="20000"/>
          </a:bodyPr>
          <a:lstStyle/>
          <a:p>
            <a:pPr marL="0" indent="0">
              <a:buNone/>
            </a:pPr>
            <a:r>
              <a:rPr sz="1200" b="0" i="0">
                <a:solidFill>
                  <a:srgbClr val="1F2937"/>
                </a:solidFill>
              </a:rPr>
              <a:t>Calibrated risk prediction (ML) + LLM intent judging and explanation, inside an agentic-workflow guardrail</a:t>
            </a:r>
            <a:endParaRPr lang="en-US" sz="1900" dirty="0"/>
          </a:p>
        </p:txBody>
      </p:sp>
      <p:sp>
        <p:nvSpPr>
          <p:cNvPr id="10" name="Shape 8">
            <a:extLst>
              <a:ext uri="{FF2B5EF4-FFF2-40B4-BE49-F238E27FC236}">
                <a16:creationId xmlns:a16="http://schemas.microsoft.com/office/drawing/2014/main" id="{9DE2606D-4FB8-66AE-31AE-BBCD9ED07D14}"/>
              </a:ext>
            </a:extLst>
          </p:cNvPr>
          <p:cNvSpPr/>
          <p:nvPr/>
        </p:nvSpPr>
        <p:spPr>
          <a:xfrm>
            <a:off x="7333488" y="1097280"/>
            <a:ext cx="4041648" cy="822960"/>
          </a:xfrm>
          <a:prstGeom prst="roundRect">
            <a:avLst>
              <a:gd name="adj" fmla="val 5556"/>
            </a:avLst>
          </a:prstGeom>
          <a:solidFill>
            <a:srgbClr val="FFFFFF"/>
          </a:solidFill>
          <a:ln w="12700">
            <a:solidFill>
              <a:srgbClr val="DCE5EC"/>
            </a:solidFill>
            <a:prstDash val="solid"/>
          </a:ln>
          <a:effectLst/>
        </p:spPr>
        <p:txBody>
          <a:bodyPr/>
          <a:lstStyle/>
          <a:p>
            <a:endParaRPr lang="en-US"/>
          </a:p>
        </p:txBody>
      </p:sp>
      <p:sp>
        <p:nvSpPr>
          <p:cNvPr id="11" name="Text 9">
            <a:extLst>
              <a:ext uri="{FF2B5EF4-FFF2-40B4-BE49-F238E27FC236}">
                <a16:creationId xmlns:a16="http://schemas.microsoft.com/office/drawing/2014/main" id="{9A39E1F4-7B4A-2571-33FD-03D81EE95CD4}"/>
              </a:ext>
            </a:extLst>
          </p:cNvPr>
          <p:cNvSpPr/>
          <p:nvPr/>
        </p:nvSpPr>
        <p:spPr>
          <a:xfrm>
            <a:off x="7498080" y="1225296"/>
            <a:ext cx="4041648" cy="164592"/>
          </a:xfrm>
          <a:prstGeom prst="rect">
            <a:avLst/>
          </a:prstGeom>
          <a:noFill/>
          <a:ln/>
        </p:spPr>
        <p:txBody>
          <a:bodyPr wrap="square" lIns="0" tIns="0" rIns="0" bIns="0" rtlCol="0" anchor="ctr"/>
          <a:lstStyle/>
          <a:p>
            <a:pPr marL="0" indent="0">
              <a:buNone/>
            </a:pPr>
            <a:r>
              <a:rPr lang="en-US" sz="850" b="1" kern="0" spc="70" dirty="0">
                <a:solidFill>
                  <a:srgbClr val="F28C28"/>
                </a:solidFill>
              </a:rPr>
              <a:t>INNOVATION / DIFFERENTIATION</a:t>
            </a:r>
            <a:endParaRPr lang="en-US" sz="850" dirty="0"/>
          </a:p>
        </p:txBody>
      </p:sp>
      <p:sp>
        <p:nvSpPr>
          <p:cNvPr id="12" name="Text 10">
            <a:extLst>
              <a:ext uri="{FF2B5EF4-FFF2-40B4-BE49-F238E27FC236}">
                <a16:creationId xmlns:a16="http://schemas.microsoft.com/office/drawing/2014/main" id="{E70AF57C-9B6F-28FF-2071-1C1D8F02182C}"/>
              </a:ext>
            </a:extLst>
          </p:cNvPr>
          <p:cNvSpPr/>
          <p:nvPr/>
        </p:nvSpPr>
        <p:spPr>
          <a:xfrm>
            <a:off x="7498080" y="1490472"/>
            <a:ext cx="4041648" cy="310896"/>
          </a:xfrm>
          <a:prstGeom prst="rect">
            <a:avLst/>
          </a:prstGeom>
          <a:noFill/>
          <a:ln/>
        </p:spPr>
        <p:txBody>
          <a:bodyPr wrap="square" lIns="254" tIns="254" rIns="254" bIns="254" rtlCol="0" anchor="ctr">
            <a:normAutofit/>
          </a:bodyPr>
          <a:lstStyle/>
          <a:p>
            <a:pPr marL="0" indent="0">
              <a:buNone/>
            </a:pPr>
            <a:r>
              <a:rPr sz="1050" b="0" i="0">
                <a:solidFill>
                  <a:srgbClr val="1F2937"/>
                </a:solidFill>
              </a:rPr>
              <a:t>Reversibility-conditioned threshold τ = C/(H(1−r)) on a calibrated p with an abstain band; gating by measured effect</a:t>
            </a:r>
            <a:endParaRPr lang="en-US" sz="1200" dirty="0"/>
          </a:p>
        </p:txBody>
      </p:sp>
      <p:sp>
        <p:nvSpPr>
          <p:cNvPr id="13" name="Shape 11">
            <a:extLst>
              <a:ext uri="{FF2B5EF4-FFF2-40B4-BE49-F238E27FC236}">
                <a16:creationId xmlns:a16="http://schemas.microsoft.com/office/drawing/2014/main" id="{625D3005-099E-9478-831C-E9C6F3ABC6F4}"/>
              </a:ext>
            </a:extLst>
          </p:cNvPr>
          <p:cNvSpPr/>
          <p:nvPr/>
        </p:nvSpPr>
        <p:spPr>
          <a:xfrm>
            <a:off x="548640" y="2194560"/>
            <a:ext cx="5358384" cy="1033272"/>
          </a:xfrm>
          <a:prstGeom prst="roundRect">
            <a:avLst>
              <a:gd name="adj" fmla="val 4425"/>
            </a:avLst>
          </a:prstGeom>
          <a:solidFill>
            <a:srgbClr val="EAF7FD"/>
          </a:solidFill>
          <a:ln w="12700">
            <a:solidFill>
              <a:srgbClr val="007CC3"/>
            </a:solidFill>
            <a:prstDash val="solid"/>
          </a:ln>
        </p:spPr>
        <p:txBody>
          <a:bodyPr/>
          <a:lstStyle/>
          <a:p>
            <a:endParaRPr lang="en-US"/>
          </a:p>
        </p:txBody>
      </p:sp>
      <p:sp>
        <p:nvSpPr>
          <p:cNvPr id="14" name="Text 12">
            <a:extLst>
              <a:ext uri="{FF2B5EF4-FFF2-40B4-BE49-F238E27FC236}">
                <a16:creationId xmlns:a16="http://schemas.microsoft.com/office/drawing/2014/main" id="{B1BDEBF7-3C23-C854-55C0-A36818548845}"/>
              </a:ext>
            </a:extLst>
          </p:cNvPr>
          <p:cNvSpPr/>
          <p:nvPr/>
        </p:nvSpPr>
        <p:spPr>
          <a:xfrm>
            <a:off x="731520" y="2359152"/>
            <a:ext cx="1335024" cy="182880"/>
          </a:xfrm>
          <a:prstGeom prst="rect">
            <a:avLst/>
          </a:prstGeom>
          <a:noFill/>
          <a:ln/>
        </p:spPr>
        <p:txBody>
          <a:bodyPr wrap="square" lIns="0" tIns="0" rIns="0" bIns="0" rtlCol="0" anchor="ctr"/>
          <a:lstStyle/>
          <a:p>
            <a:pPr marL="0" indent="0">
              <a:buNone/>
            </a:pPr>
            <a:r>
              <a:rPr lang="en-US" sz="900" b="1" kern="0" spc="80" dirty="0">
                <a:solidFill>
                  <a:srgbClr val="007CC3"/>
                </a:solidFill>
              </a:rPr>
              <a:t>AI ROLE</a:t>
            </a:r>
            <a:endParaRPr lang="en-US" sz="900" dirty="0"/>
          </a:p>
        </p:txBody>
      </p:sp>
      <p:sp>
        <p:nvSpPr>
          <p:cNvPr id="15" name="Text 13">
            <a:extLst>
              <a:ext uri="{FF2B5EF4-FFF2-40B4-BE49-F238E27FC236}">
                <a16:creationId xmlns:a16="http://schemas.microsoft.com/office/drawing/2014/main" id="{02136FE3-12A6-3BAF-937A-81862D7B9BF5}"/>
              </a:ext>
            </a:extLst>
          </p:cNvPr>
          <p:cNvSpPr/>
          <p:nvPr/>
        </p:nvSpPr>
        <p:spPr>
          <a:xfrm>
            <a:off x="2121408" y="2322576"/>
            <a:ext cx="3566160" cy="612648"/>
          </a:xfrm>
          <a:prstGeom prst="rect">
            <a:avLst/>
          </a:prstGeom>
          <a:noFill/>
          <a:ln/>
        </p:spPr>
        <p:txBody>
          <a:bodyPr wrap="square" lIns="254" tIns="254" rIns="254" bIns="254" rtlCol="0" anchor="ctr">
            <a:normAutofit/>
          </a:bodyPr>
          <a:lstStyle/>
          <a:p>
            <a:pPr marL="0" indent="0">
              <a:buNone/>
            </a:pPr>
            <a:r>
              <a:rPr sz="1050" b="0" i="0">
                <a:solidFill>
                  <a:srgbClr val="1F2937"/>
                </a:solidFill>
              </a:rPr>
              <a:t>Predicts p(action is unsafe or unintended) with a confidence interval; the LLM scores request ↔ action fit and writes the explanation</a:t>
            </a:r>
            <a:endParaRPr lang="en-US" sz="1150" dirty="0"/>
          </a:p>
        </p:txBody>
      </p:sp>
      <p:sp>
        <p:nvSpPr>
          <p:cNvPr id="16" name="Shape 14">
            <a:extLst>
              <a:ext uri="{FF2B5EF4-FFF2-40B4-BE49-F238E27FC236}">
                <a16:creationId xmlns:a16="http://schemas.microsoft.com/office/drawing/2014/main" id="{D2541D1A-B196-3DE4-651B-3E516AF80947}"/>
              </a:ext>
            </a:extLst>
          </p:cNvPr>
          <p:cNvSpPr/>
          <p:nvPr/>
        </p:nvSpPr>
        <p:spPr>
          <a:xfrm>
            <a:off x="6126480" y="2194560"/>
            <a:ext cx="5358384" cy="1033272"/>
          </a:xfrm>
          <a:prstGeom prst="roundRect">
            <a:avLst>
              <a:gd name="adj" fmla="val 4425"/>
            </a:avLst>
          </a:prstGeom>
          <a:solidFill>
            <a:srgbClr val="F3EEFC"/>
          </a:solidFill>
          <a:ln w="12700">
            <a:solidFill>
              <a:srgbClr val="5417A8"/>
            </a:solidFill>
            <a:prstDash val="solid"/>
          </a:ln>
        </p:spPr>
        <p:txBody>
          <a:bodyPr/>
          <a:lstStyle/>
          <a:p>
            <a:endParaRPr lang="en-US"/>
          </a:p>
        </p:txBody>
      </p:sp>
      <p:sp>
        <p:nvSpPr>
          <p:cNvPr id="17" name="Text 15">
            <a:extLst>
              <a:ext uri="{FF2B5EF4-FFF2-40B4-BE49-F238E27FC236}">
                <a16:creationId xmlns:a16="http://schemas.microsoft.com/office/drawing/2014/main" id="{9C81BA97-A912-BF86-22A9-6DEE773C8CEE}"/>
              </a:ext>
            </a:extLst>
          </p:cNvPr>
          <p:cNvSpPr/>
          <p:nvPr/>
        </p:nvSpPr>
        <p:spPr>
          <a:xfrm>
            <a:off x="6309360" y="2359152"/>
            <a:ext cx="1335024" cy="182880"/>
          </a:xfrm>
          <a:prstGeom prst="rect">
            <a:avLst/>
          </a:prstGeom>
          <a:noFill/>
          <a:ln/>
        </p:spPr>
        <p:txBody>
          <a:bodyPr wrap="square" lIns="0" tIns="0" rIns="0" bIns="0" rtlCol="0" anchor="ctr"/>
          <a:lstStyle/>
          <a:p>
            <a:pPr marL="0" indent="0">
              <a:buNone/>
            </a:pPr>
            <a:r>
              <a:rPr lang="en-US" sz="900" b="1" kern="0" spc="80" dirty="0">
                <a:solidFill>
                  <a:srgbClr val="5417A8"/>
                </a:solidFill>
              </a:rPr>
              <a:t>INPUT &amp; MODEL</a:t>
            </a:r>
            <a:endParaRPr lang="en-US" sz="900" dirty="0"/>
          </a:p>
        </p:txBody>
      </p:sp>
      <p:sp>
        <p:nvSpPr>
          <p:cNvPr id="18" name="Text 16">
            <a:extLst>
              <a:ext uri="{FF2B5EF4-FFF2-40B4-BE49-F238E27FC236}">
                <a16:creationId xmlns:a16="http://schemas.microsoft.com/office/drawing/2014/main" id="{29921B6C-8162-664F-1834-EEB6928463BF}"/>
              </a:ext>
            </a:extLst>
          </p:cNvPr>
          <p:cNvSpPr/>
          <p:nvPr/>
        </p:nvSpPr>
        <p:spPr>
          <a:xfrm>
            <a:off x="7699248" y="2322576"/>
            <a:ext cx="3566160" cy="612648"/>
          </a:xfrm>
          <a:prstGeom prst="rect">
            <a:avLst/>
          </a:prstGeom>
          <a:noFill/>
          <a:ln/>
        </p:spPr>
        <p:txBody>
          <a:bodyPr wrap="square" lIns="254" tIns="254" rIns="254" bIns="254" rtlCol="0" anchor="ctr">
            <a:normAutofit/>
          </a:bodyPr>
          <a:lstStyle/>
          <a:p>
            <a:pPr marL="0" indent="0">
              <a:buNone/>
            </a:pPr>
            <a:r>
              <a:rPr sz="1050" b="0" i="0">
                <a:solidFill>
                  <a:srgbClr val="1F2937"/>
                </a:solidFill>
              </a:rPr>
              <a:t>18 typed features (provenance, blast radius, reversibility, intent); bootstrap logistic ensemble + isotonic calibration; Llama on Qualcomm Cloud AI 100</a:t>
            </a:r>
            <a:endParaRPr lang="en-US" sz="1150" dirty="0"/>
          </a:p>
        </p:txBody>
      </p:sp>
      <p:sp>
        <p:nvSpPr>
          <p:cNvPr id="19" name="Shape 17">
            <a:extLst>
              <a:ext uri="{FF2B5EF4-FFF2-40B4-BE49-F238E27FC236}">
                <a16:creationId xmlns:a16="http://schemas.microsoft.com/office/drawing/2014/main" id="{A4A2DD8C-DD2D-F12D-5910-ED29B2FE1A09}"/>
              </a:ext>
            </a:extLst>
          </p:cNvPr>
          <p:cNvSpPr/>
          <p:nvPr/>
        </p:nvSpPr>
        <p:spPr>
          <a:xfrm>
            <a:off x="548640" y="3493008"/>
            <a:ext cx="5358384" cy="1033272"/>
          </a:xfrm>
          <a:prstGeom prst="roundRect">
            <a:avLst>
              <a:gd name="adj" fmla="val 4425"/>
            </a:avLst>
          </a:prstGeom>
          <a:solidFill>
            <a:srgbClr val="FFF4E8"/>
          </a:solidFill>
          <a:ln w="12700">
            <a:solidFill>
              <a:srgbClr val="F28C28"/>
            </a:solidFill>
            <a:prstDash val="solid"/>
          </a:ln>
        </p:spPr>
        <p:txBody>
          <a:bodyPr/>
          <a:lstStyle/>
          <a:p>
            <a:endParaRPr lang="en-US"/>
          </a:p>
        </p:txBody>
      </p:sp>
      <p:sp>
        <p:nvSpPr>
          <p:cNvPr id="20" name="Text 18">
            <a:extLst>
              <a:ext uri="{FF2B5EF4-FFF2-40B4-BE49-F238E27FC236}">
                <a16:creationId xmlns:a16="http://schemas.microsoft.com/office/drawing/2014/main" id="{B1749330-EA34-2AA5-7965-13FB7F9D9286}"/>
              </a:ext>
            </a:extLst>
          </p:cNvPr>
          <p:cNvSpPr/>
          <p:nvPr/>
        </p:nvSpPr>
        <p:spPr>
          <a:xfrm>
            <a:off x="731520" y="3657600"/>
            <a:ext cx="1335024" cy="182880"/>
          </a:xfrm>
          <a:prstGeom prst="rect">
            <a:avLst/>
          </a:prstGeom>
          <a:noFill/>
          <a:ln/>
        </p:spPr>
        <p:txBody>
          <a:bodyPr wrap="square" lIns="0" tIns="0" rIns="0" bIns="0" rtlCol="0" anchor="ctr"/>
          <a:lstStyle/>
          <a:p>
            <a:pPr marL="0" indent="0">
              <a:buNone/>
            </a:pPr>
            <a:r>
              <a:rPr lang="en-US" sz="900" b="1" kern="0" spc="80" dirty="0">
                <a:solidFill>
                  <a:srgbClr val="F28C28"/>
                </a:solidFill>
              </a:rPr>
              <a:t>QUALITY CHECK</a:t>
            </a:r>
            <a:endParaRPr lang="en-US" sz="900" dirty="0"/>
          </a:p>
        </p:txBody>
      </p:sp>
      <p:sp>
        <p:nvSpPr>
          <p:cNvPr id="21" name="Text 19">
            <a:extLst>
              <a:ext uri="{FF2B5EF4-FFF2-40B4-BE49-F238E27FC236}">
                <a16:creationId xmlns:a16="http://schemas.microsoft.com/office/drawing/2014/main" id="{D55B06EA-D753-EFE8-671F-C1F733EB2D2F}"/>
              </a:ext>
            </a:extLst>
          </p:cNvPr>
          <p:cNvSpPr/>
          <p:nvPr/>
        </p:nvSpPr>
        <p:spPr>
          <a:xfrm>
            <a:off x="2121408" y="3621024"/>
            <a:ext cx="3566160" cy="612648"/>
          </a:xfrm>
          <a:prstGeom prst="rect">
            <a:avLst/>
          </a:prstGeom>
          <a:noFill/>
          <a:ln/>
        </p:spPr>
        <p:txBody>
          <a:bodyPr wrap="square" lIns="254" tIns="254" rIns="254" bIns="254" rtlCol="0" anchor="ctr">
            <a:normAutofit/>
          </a:bodyPr>
          <a:lstStyle/>
          <a:p>
            <a:pPr marL="0" indent="0">
              <a:buNone/>
            </a:pPr>
            <a:r>
              <a:rPr sz="1050" b="0" i="0">
                <a:solidFill>
                  <a:srgbClr val="1F2937"/>
                </a:solidFill>
              </a:rPr>
              <a:t>Held-out ECE 0.13 → 0.03. Uncertain → human. The LLM can only lower trust; an explanation is rejected if it adds a number not in the evidence.</a:t>
            </a:r>
            <a:endParaRPr lang="en-US" sz="1150" dirty="0"/>
          </a:p>
        </p:txBody>
      </p:sp>
      <p:sp>
        <p:nvSpPr>
          <p:cNvPr id="22" name="Shape 20">
            <a:extLst>
              <a:ext uri="{FF2B5EF4-FFF2-40B4-BE49-F238E27FC236}">
                <a16:creationId xmlns:a16="http://schemas.microsoft.com/office/drawing/2014/main" id="{B1ED7539-4D80-3DA4-A54B-371DE4CBE611}"/>
              </a:ext>
            </a:extLst>
          </p:cNvPr>
          <p:cNvSpPr/>
          <p:nvPr/>
        </p:nvSpPr>
        <p:spPr>
          <a:xfrm>
            <a:off x="6126480" y="3493008"/>
            <a:ext cx="5358384" cy="1033272"/>
          </a:xfrm>
          <a:prstGeom prst="roundRect">
            <a:avLst>
              <a:gd name="adj" fmla="val 4425"/>
            </a:avLst>
          </a:prstGeom>
          <a:solidFill>
            <a:srgbClr val="EFF7E9"/>
          </a:solidFill>
          <a:ln w="12700">
            <a:solidFill>
              <a:srgbClr val="63A845"/>
            </a:solidFill>
            <a:prstDash val="solid"/>
          </a:ln>
        </p:spPr>
        <p:txBody>
          <a:bodyPr/>
          <a:lstStyle/>
          <a:p>
            <a:endParaRPr lang="en-US"/>
          </a:p>
        </p:txBody>
      </p:sp>
      <p:sp>
        <p:nvSpPr>
          <p:cNvPr id="23" name="Text 21">
            <a:extLst>
              <a:ext uri="{FF2B5EF4-FFF2-40B4-BE49-F238E27FC236}">
                <a16:creationId xmlns:a16="http://schemas.microsoft.com/office/drawing/2014/main" id="{3C18B500-DD37-72C7-18AF-26BF71E98CBE}"/>
              </a:ext>
            </a:extLst>
          </p:cNvPr>
          <p:cNvSpPr/>
          <p:nvPr/>
        </p:nvSpPr>
        <p:spPr>
          <a:xfrm>
            <a:off x="6309360" y="3657600"/>
            <a:ext cx="1335024" cy="182880"/>
          </a:xfrm>
          <a:prstGeom prst="rect">
            <a:avLst/>
          </a:prstGeom>
          <a:noFill/>
          <a:ln/>
        </p:spPr>
        <p:txBody>
          <a:bodyPr wrap="square" lIns="0" tIns="0" rIns="0" bIns="0" rtlCol="0" anchor="ctr"/>
          <a:lstStyle/>
          <a:p>
            <a:pPr marL="0" indent="0">
              <a:buNone/>
            </a:pPr>
            <a:r>
              <a:rPr lang="en-US" sz="900" b="1" kern="0" spc="80" dirty="0">
                <a:solidFill>
                  <a:srgbClr val="63A845"/>
                </a:solidFill>
              </a:rPr>
              <a:t>VALUE CREATED</a:t>
            </a:r>
            <a:endParaRPr lang="en-US" sz="900" dirty="0"/>
          </a:p>
        </p:txBody>
      </p:sp>
      <p:sp>
        <p:nvSpPr>
          <p:cNvPr id="24" name="Text 22">
            <a:extLst>
              <a:ext uri="{FF2B5EF4-FFF2-40B4-BE49-F238E27FC236}">
                <a16:creationId xmlns:a16="http://schemas.microsoft.com/office/drawing/2014/main" id="{7C326B15-E05A-C924-5A52-BFA9E79A0C76}"/>
              </a:ext>
            </a:extLst>
          </p:cNvPr>
          <p:cNvSpPr/>
          <p:nvPr/>
        </p:nvSpPr>
        <p:spPr>
          <a:xfrm>
            <a:off x="7699248" y="3621024"/>
            <a:ext cx="3566160" cy="612648"/>
          </a:xfrm>
          <a:prstGeom prst="rect">
            <a:avLst/>
          </a:prstGeom>
          <a:noFill/>
          <a:ln/>
        </p:spPr>
        <p:txBody>
          <a:bodyPr wrap="square" lIns="254" tIns="254" rIns="254" bIns="254" rtlCol="0" anchor="ctr">
            <a:normAutofit/>
          </a:bodyPr>
          <a:lstStyle/>
          <a:p>
            <a:pPr marL="0" indent="0">
              <a:buNone/>
            </a:pPr>
            <a:r>
              <a:rPr sz="1050" b="0" i="0">
                <a:solidFill>
                  <a:srgbClr val="1F2937"/>
                </a:solidFill>
              </a:rPr>
              <a:t>68% of safe actions automated (vs 12% approve-every-write) at 0.5% unsafe auto-allowed; rules alone miss 30%.</a:t>
            </a:r>
            <a:endParaRPr lang="en-US" sz="1150" dirty="0"/>
          </a:p>
        </p:txBody>
      </p:sp>
      <p:grpSp>
        <p:nvGrpSpPr>
          <p:cNvPr id="30" name="Group 29">
            <a:extLst>
              <a:ext uri="{FF2B5EF4-FFF2-40B4-BE49-F238E27FC236}">
                <a16:creationId xmlns:a16="http://schemas.microsoft.com/office/drawing/2014/main" id="{985829E1-6B93-F1D7-3CE8-A5CA27F8FECD}"/>
              </a:ext>
            </a:extLst>
          </p:cNvPr>
          <p:cNvGrpSpPr/>
          <p:nvPr/>
        </p:nvGrpSpPr>
        <p:grpSpPr>
          <a:xfrm>
            <a:off x="548640" y="4690872"/>
            <a:ext cx="10991088" cy="1120365"/>
            <a:chOff x="466344" y="4905531"/>
            <a:chExt cx="11237976" cy="1120365"/>
          </a:xfrm>
        </p:grpSpPr>
        <p:sp>
          <p:nvSpPr>
            <p:cNvPr id="25" name="Shape 23">
              <a:extLst>
                <a:ext uri="{FF2B5EF4-FFF2-40B4-BE49-F238E27FC236}">
                  <a16:creationId xmlns:a16="http://schemas.microsoft.com/office/drawing/2014/main" id="{A4E43D51-1B96-DC7B-F24F-EAE8EDC78953}"/>
                </a:ext>
              </a:extLst>
            </p:cNvPr>
            <p:cNvSpPr/>
            <p:nvPr/>
          </p:nvSpPr>
          <p:spPr>
            <a:xfrm>
              <a:off x="475488" y="4937760"/>
              <a:ext cx="11228832" cy="960120"/>
            </a:xfrm>
            <a:prstGeom prst="roundRect">
              <a:avLst>
                <a:gd name="adj" fmla="val 5714"/>
              </a:avLst>
            </a:prstGeom>
            <a:solidFill>
              <a:srgbClr val="F8FAFC"/>
            </a:solidFill>
            <a:ln w="12700">
              <a:solidFill>
                <a:srgbClr val="DCE5EC"/>
              </a:solidFill>
              <a:prstDash val="solid"/>
            </a:ln>
          </p:spPr>
          <p:txBody>
            <a:bodyPr/>
            <a:lstStyle/>
            <a:p>
              <a:endParaRPr lang="en-US"/>
            </a:p>
          </p:txBody>
        </p:sp>
        <p:sp>
          <p:nvSpPr>
            <p:cNvPr id="26" name="Shape 24">
              <a:extLst>
                <a:ext uri="{FF2B5EF4-FFF2-40B4-BE49-F238E27FC236}">
                  <a16:creationId xmlns:a16="http://schemas.microsoft.com/office/drawing/2014/main" id="{78932CB2-04C4-9119-FE7A-9815A0C9D929}"/>
                </a:ext>
              </a:extLst>
            </p:cNvPr>
            <p:cNvSpPr/>
            <p:nvPr/>
          </p:nvSpPr>
          <p:spPr>
            <a:xfrm>
              <a:off x="466344" y="4905531"/>
              <a:ext cx="82296" cy="960120"/>
            </a:xfrm>
            <a:prstGeom prst="rect">
              <a:avLst/>
            </a:prstGeom>
            <a:solidFill>
              <a:srgbClr val="F28C28"/>
            </a:solidFill>
            <a:ln w="12700">
              <a:solidFill>
                <a:srgbClr val="F28C28"/>
              </a:solidFill>
              <a:prstDash val="solid"/>
            </a:ln>
          </p:spPr>
          <p:txBody>
            <a:bodyPr/>
            <a:lstStyle/>
            <a:p>
              <a:endParaRPr lang="en-US"/>
            </a:p>
          </p:txBody>
        </p:sp>
        <p:sp>
          <p:nvSpPr>
            <p:cNvPr id="27" name="Text 25">
              <a:extLst>
                <a:ext uri="{FF2B5EF4-FFF2-40B4-BE49-F238E27FC236}">
                  <a16:creationId xmlns:a16="http://schemas.microsoft.com/office/drawing/2014/main" id="{1A5D14C5-8E1E-E916-6DA5-E3A2A3B3E825}"/>
                </a:ext>
              </a:extLst>
            </p:cNvPr>
            <p:cNvSpPr/>
            <p:nvPr/>
          </p:nvSpPr>
          <p:spPr>
            <a:xfrm>
              <a:off x="713232" y="5266944"/>
              <a:ext cx="960120" cy="164592"/>
            </a:xfrm>
            <a:prstGeom prst="rect">
              <a:avLst/>
            </a:prstGeom>
            <a:noFill/>
            <a:ln/>
          </p:spPr>
          <p:txBody>
            <a:bodyPr wrap="square" lIns="0" tIns="0" rIns="0" bIns="0" rtlCol="0" anchor="ctr"/>
            <a:lstStyle/>
            <a:p>
              <a:pPr marL="0" indent="0">
                <a:buNone/>
              </a:pPr>
              <a:r>
                <a:rPr sz="900" b="1" i="0">
                  <a:solidFill>
                    <a:srgbClr val="F28C28"/>
                  </a:solidFill>
                </a:rPr>
                <a:t>WHY NOT RULES ONLY</a:t>
              </a:r>
              <a:endParaRPr lang="en-US" sz="900" dirty="0"/>
            </a:p>
          </p:txBody>
        </p:sp>
        <p:sp>
          <p:nvSpPr>
            <p:cNvPr id="28" name="Text 26">
              <a:extLst>
                <a:ext uri="{FF2B5EF4-FFF2-40B4-BE49-F238E27FC236}">
                  <a16:creationId xmlns:a16="http://schemas.microsoft.com/office/drawing/2014/main" id="{8E35749B-E88F-28FE-EAD4-28EF9504D9A7}"/>
                </a:ext>
              </a:extLst>
            </p:cNvPr>
            <p:cNvSpPr/>
            <p:nvPr/>
          </p:nvSpPr>
          <p:spPr>
            <a:xfrm>
              <a:off x="1993392" y="5230368"/>
              <a:ext cx="9326880" cy="795528"/>
            </a:xfrm>
            <a:prstGeom prst="rect">
              <a:avLst/>
            </a:prstGeom>
            <a:noFill/>
            <a:ln/>
          </p:spPr>
          <p:txBody>
            <a:bodyPr wrap="square" lIns="381" tIns="381" rIns="381" bIns="381" rtlCol="0" anchor="ctr"/>
            <a:lstStyle/>
            <a:p>
              <a:pPr marL="177800" indent="-177800">
                <a:buSzPct val="100000"/>
                <a:buChar char="•"/>
              </a:pPr>
              <a:r>
                <a:rPr sz="1050" b="0" i="0">
                  <a:solidFill>
                    <a:srgbClr val="1F2937"/>
                  </a:solidFill>
                </a:rPr>
                <a:t>“Remove the duplicate for customer 17” becoming “DELETE … WHERE city='Pune' AND tier='gold'” passes every rule. The model sees the measured multi-row blast radius and that the record the user named is not even touched.</a:t>
              </a:r>
              <a:endParaRPr lang="en-US" sz="1100" dirty="0"/>
            </a:p>
            <a:p>
              <a:pPr marL="177800" indent="-177800">
                <a:buSzPct val="100000"/>
                <a:buChar char="•"/>
              </a:pPr>
              <a:r>
                <a:rPr sz="1050" b="1" i="0">
                  <a:solidFill>
                    <a:srgbClr val="1F2937"/>
                  </a:solidFill>
                </a:rPr>
                <a:t>When it is unsure, it asks:</a:t>
              </a:r>
              <a:r>
                <a:rPr sz="1050" b="0" i="0">
                  <a:solidFill>
                    <a:srgbClr val="1F2937"/>
                  </a:solidFill>
                </a:rPr>
                <a:t> if the interval straddles τ the action goes to a human. No guessing.</a:t>
              </a:r>
            </a:p>
          </p:txBody>
        </p:sp>
      </p:grpSp>
      <p:sp>
        <p:nvSpPr>
          <p:cNvPr id="29" name="Slide Number Placeholder 0">
            <a:extLst>
              <a:ext uri="{FF2B5EF4-FFF2-40B4-BE49-F238E27FC236}">
                <a16:creationId xmlns:a16="http://schemas.microsoft.com/office/drawing/2014/main" id="{1D029A2C-F19C-3F02-3469-DD4D706D2B00}"/>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a:t>
            </a:fld>
            <a:endParaRPr lang="en-US"/>
          </a:p>
        </p:txBody>
      </p:sp>
    </p:spTree>
    <p:extLst>
      <p:ext uri="{BB962C8B-B14F-4D97-AF65-F5344CB8AC3E}">
        <p14:creationId xmlns:p14="http://schemas.microsoft.com/office/powerpoint/2010/main" val="3280116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5BDF586-71D9-9229-8097-D3089FBBF03E}"/>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Future Enhancements, Scalability &amp; Security</a:t>
            </a:r>
            <a:endParaRPr lang="en-US" sz="2400" dirty="0"/>
          </a:p>
        </p:txBody>
      </p:sp>
      <p:sp>
        <p:nvSpPr>
          <p:cNvPr id="3" name="Text 1">
            <a:extLst>
              <a:ext uri="{FF2B5EF4-FFF2-40B4-BE49-F238E27FC236}">
                <a16:creationId xmlns:a16="http://schemas.microsoft.com/office/drawing/2014/main" id="{B751ECCD-D428-5559-65E2-C0C33FD0C25F}"/>
              </a:ext>
            </a:extLst>
          </p:cNvPr>
          <p:cNvSpPr/>
          <p:nvPr/>
        </p:nvSpPr>
        <p:spPr>
          <a:xfrm>
            <a:off x="475488" y="658368"/>
            <a:ext cx="8823960" cy="219456"/>
          </a:xfrm>
          <a:prstGeom prst="rect">
            <a:avLst/>
          </a:prstGeom>
          <a:noFill/>
          <a:ln/>
        </p:spPr>
        <p:txBody>
          <a:bodyPr wrap="square" lIns="0" tIns="0" rIns="0" bIns="0" rtlCol="0" anchor="ctr"/>
          <a:lstStyle/>
          <a:p>
            <a:pPr marL="0" indent="0">
              <a:buNone/>
            </a:pPr>
            <a:r>
              <a:rPr lang="en-US" sz="1050" dirty="0">
                <a:solidFill>
                  <a:srgbClr val="5B6573"/>
                </a:solidFill>
              </a:rPr>
              <a:t>Present a credible next-step roadmap and the safeguards considered.</a:t>
            </a:r>
            <a:endParaRPr lang="en-US" sz="1050" dirty="0"/>
          </a:p>
        </p:txBody>
      </p:sp>
      <p:sp>
        <p:nvSpPr>
          <p:cNvPr id="5" name="Text 3">
            <a:extLst>
              <a:ext uri="{FF2B5EF4-FFF2-40B4-BE49-F238E27FC236}">
                <a16:creationId xmlns:a16="http://schemas.microsoft.com/office/drawing/2014/main" id="{F862B695-A59D-0E83-5A72-834BAD7DB910}"/>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0:35</a:t>
            </a:r>
            <a:endParaRPr lang="en-US" sz="850" dirty="0"/>
          </a:p>
        </p:txBody>
      </p:sp>
      <p:sp>
        <p:nvSpPr>
          <p:cNvPr id="7" name="Shape 5">
            <a:extLst>
              <a:ext uri="{FF2B5EF4-FFF2-40B4-BE49-F238E27FC236}">
                <a16:creationId xmlns:a16="http://schemas.microsoft.com/office/drawing/2014/main" id="{A49828B3-3E97-5779-FD97-F886A6DE30C8}"/>
              </a:ext>
            </a:extLst>
          </p:cNvPr>
          <p:cNvSpPr/>
          <p:nvPr/>
        </p:nvSpPr>
        <p:spPr>
          <a:xfrm>
            <a:off x="548640" y="1234440"/>
            <a:ext cx="3328416" cy="3328416"/>
          </a:xfrm>
          <a:prstGeom prst="roundRect">
            <a:avLst>
              <a:gd name="adj" fmla="val 1374"/>
            </a:avLst>
          </a:prstGeom>
          <a:solidFill>
            <a:srgbClr val="EAF7FD"/>
          </a:solidFill>
          <a:ln w="15240">
            <a:solidFill>
              <a:srgbClr val="007CC3"/>
            </a:solidFill>
            <a:prstDash val="solid"/>
          </a:ln>
          <a:effectLst/>
        </p:spPr>
        <p:txBody>
          <a:bodyPr/>
          <a:lstStyle/>
          <a:p>
            <a:endParaRPr lang="en-US"/>
          </a:p>
        </p:txBody>
      </p:sp>
      <p:sp>
        <p:nvSpPr>
          <p:cNvPr id="8" name="Text 6">
            <a:extLst>
              <a:ext uri="{FF2B5EF4-FFF2-40B4-BE49-F238E27FC236}">
                <a16:creationId xmlns:a16="http://schemas.microsoft.com/office/drawing/2014/main" id="{9F8A0B38-3599-241D-D380-A5865C95561F}"/>
              </a:ext>
            </a:extLst>
          </p:cNvPr>
          <p:cNvSpPr/>
          <p:nvPr/>
        </p:nvSpPr>
        <p:spPr>
          <a:xfrm>
            <a:off x="731520" y="1517904"/>
            <a:ext cx="2962656" cy="256032"/>
          </a:xfrm>
          <a:prstGeom prst="rect">
            <a:avLst/>
          </a:prstGeom>
          <a:noFill/>
          <a:ln/>
        </p:spPr>
        <p:txBody>
          <a:bodyPr wrap="square" lIns="0" tIns="0" rIns="0" bIns="0" rtlCol="0" anchor="ctr"/>
          <a:lstStyle/>
          <a:p>
            <a:pPr marL="0" indent="0" algn="ctr">
              <a:buNone/>
            </a:pPr>
            <a:r>
              <a:rPr lang="en-US" sz="1100" b="1" dirty="0">
                <a:solidFill>
                  <a:srgbClr val="007CC3"/>
                </a:solidFill>
              </a:rPr>
              <a:t>NEXT ENHANCEMENTS</a:t>
            </a:r>
            <a:endParaRPr lang="en-US" sz="1100" dirty="0"/>
          </a:p>
        </p:txBody>
      </p:sp>
      <p:sp>
        <p:nvSpPr>
          <p:cNvPr id="9" name="Shape 7">
            <a:extLst>
              <a:ext uri="{FF2B5EF4-FFF2-40B4-BE49-F238E27FC236}">
                <a16:creationId xmlns:a16="http://schemas.microsoft.com/office/drawing/2014/main" id="{AB58F033-E8D4-7743-A174-24673F83D777}"/>
              </a:ext>
            </a:extLst>
          </p:cNvPr>
          <p:cNvSpPr/>
          <p:nvPr/>
        </p:nvSpPr>
        <p:spPr>
          <a:xfrm>
            <a:off x="804672" y="2057400"/>
            <a:ext cx="274320" cy="274320"/>
          </a:xfrm>
          <a:prstGeom prst="ellipse">
            <a:avLst/>
          </a:prstGeom>
          <a:solidFill>
            <a:srgbClr val="007CC3"/>
          </a:solidFill>
          <a:ln w="12700">
            <a:solidFill>
              <a:srgbClr val="007CC3"/>
            </a:solidFill>
            <a:prstDash val="solid"/>
          </a:ln>
        </p:spPr>
        <p:txBody>
          <a:bodyPr/>
          <a:lstStyle/>
          <a:p>
            <a:endParaRPr lang="en-US"/>
          </a:p>
        </p:txBody>
      </p:sp>
      <p:sp>
        <p:nvSpPr>
          <p:cNvPr id="10" name="Text 8">
            <a:extLst>
              <a:ext uri="{FF2B5EF4-FFF2-40B4-BE49-F238E27FC236}">
                <a16:creationId xmlns:a16="http://schemas.microsoft.com/office/drawing/2014/main" id="{A12CF532-F321-8AB0-4FF1-868F2FDD3AC5}"/>
              </a:ext>
            </a:extLst>
          </p:cNvPr>
          <p:cNvSpPr/>
          <p:nvPr/>
        </p:nvSpPr>
        <p:spPr>
          <a:xfrm>
            <a:off x="804672" y="2121408"/>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11" name="Text 9">
            <a:extLst>
              <a:ext uri="{FF2B5EF4-FFF2-40B4-BE49-F238E27FC236}">
                <a16:creationId xmlns:a16="http://schemas.microsoft.com/office/drawing/2014/main" id="{46FA2070-0FA7-9D97-2294-792BC7D0BDE6}"/>
              </a:ext>
            </a:extLst>
          </p:cNvPr>
          <p:cNvSpPr/>
          <p:nvPr/>
        </p:nvSpPr>
        <p:spPr>
          <a:xfrm>
            <a:off x="1207008" y="2011680"/>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Infosys Foundry plug-in: KAVACH as the MCP endpoint; Tool Interrupt fires only on ESCALATE</a:t>
            </a:r>
            <a:endParaRPr lang="en-US" sz="1150" dirty="0"/>
          </a:p>
        </p:txBody>
      </p:sp>
      <p:sp>
        <p:nvSpPr>
          <p:cNvPr id="12" name="Shape 10">
            <a:extLst>
              <a:ext uri="{FF2B5EF4-FFF2-40B4-BE49-F238E27FC236}">
                <a16:creationId xmlns:a16="http://schemas.microsoft.com/office/drawing/2014/main" id="{227D180F-D477-4BC2-3F0E-A4EA83FB1589}"/>
              </a:ext>
            </a:extLst>
          </p:cNvPr>
          <p:cNvSpPr/>
          <p:nvPr/>
        </p:nvSpPr>
        <p:spPr>
          <a:xfrm>
            <a:off x="804672" y="2807208"/>
            <a:ext cx="274320" cy="274320"/>
          </a:xfrm>
          <a:prstGeom prst="ellipse">
            <a:avLst/>
          </a:prstGeom>
          <a:solidFill>
            <a:srgbClr val="007CC3"/>
          </a:solidFill>
          <a:ln w="12700">
            <a:solidFill>
              <a:srgbClr val="007CC3"/>
            </a:solidFill>
            <a:prstDash val="solid"/>
          </a:ln>
        </p:spPr>
        <p:txBody>
          <a:bodyPr/>
          <a:lstStyle/>
          <a:p>
            <a:endParaRPr lang="en-US"/>
          </a:p>
        </p:txBody>
      </p:sp>
      <p:sp>
        <p:nvSpPr>
          <p:cNvPr id="13" name="Text 11">
            <a:extLst>
              <a:ext uri="{FF2B5EF4-FFF2-40B4-BE49-F238E27FC236}">
                <a16:creationId xmlns:a16="http://schemas.microsoft.com/office/drawing/2014/main" id="{3525CE00-3D5D-EF85-EB7B-867AB4B90E52}"/>
              </a:ext>
            </a:extLst>
          </p:cNvPr>
          <p:cNvSpPr/>
          <p:nvPr/>
        </p:nvSpPr>
        <p:spPr>
          <a:xfrm>
            <a:off x="804672" y="2871216"/>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14" name="Text 12">
            <a:extLst>
              <a:ext uri="{FF2B5EF4-FFF2-40B4-BE49-F238E27FC236}">
                <a16:creationId xmlns:a16="http://schemas.microsoft.com/office/drawing/2014/main" id="{7F1BE36D-EE88-F1E9-0499-5B9B0311F210}"/>
              </a:ext>
            </a:extLst>
          </p:cNvPr>
          <p:cNvSpPr/>
          <p:nvPr/>
        </p:nvSpPr>
        <p:spPr>
          <a:xfrm>
            <a:off x="1207008" y="2761488"/>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Port AgentDojo + AmPermBench; RAI Toolkit Privacy API as the PII detector</a:t>
            </a:r>
            <a:endParaRPr lang="en-US" sz="1150" dirty="0"/>
          </a:p>
        </p:txBody>
      </p:sp>
      <p:sp>
        <p:nvSpPr>
          <p:cNvPr id="15" name="Shape 13">
            <a:extLst>
              <a:ext uri="{FF2B5EF4-FFF2-40B4-BE49-F238E27FC236}">
                <a16:creationId xmlns:a16="http://schemas.microsoft.com/office/drawing/2014/main" id="{211B5BA5-3D31-80F2-D1B6-892A4751A9B6}"/>
              </a:ext>
            </a:extLst>
          </p:cNvPr>
          <p:cNvSpPr/>
          <p:nvPr/>
        </p:nvSpPr>
        <p:spPr>
          <a:xfrm>
            <a:off x="804672" y="3557016"/>
            <a:ext cx="274320" cy="274320"/>
          </a:xfrm>
          <a:prstGeom prst="ellipse">
            <a:avLst/>
          </a:prstGeom>
          <a:solidFill>
            <a:srgbClr val="007CC3"/>
          </a:solidFill>
          <a:ln w="12700">
            <a:solidFill>
              <a:srgbClr val="007CC3"/>
            </a:solidFill>
            <a:prstDash val="solid"/>
          </a:ln>
        </p:spPr>
        <p:txBody>
          <a:bodyPr/>
          <a:lstStyle/>
          <a:p>
            <a:endParaRPr lang="en-US"/>
          </a:p>
        </p:txBody>
      </p:sp>
      <p:sp>
        <p:nvSpPr>
          <p:cNvPr id="16" name="Text 14">
            <a:extLst>
              <a:ext uri="{FF2B5EF4-FFF2-40B4-BE49-F238E27FC236}">
                <a16:creationId xmlns:a16="http://schemas.microsoft.com/office/drawing/2014/main" id="{46A98EE9-B47D-4B49-68F4-3D402C378950}"/>
              </a:ext>
            </a:extLst>
          </p:cNvPr>
          <p:cNvSpPr/>
          <p:nvPr/>
        </p:nvSpPr>
        <p:spPr>
          <a:xfrm>
            <a:off x="804672" y="3621024"/>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17" name="Text 15">
            <a:extLst>
              <a:ext uri="{FF2B5EF4-FFF2-40B4-BE49-F238E27FC236}">
                <a16:creationId xmlns:a16="http://schemas.microsoft.com/office/drawing/2014/main" id="{E90CD5BC-E538-5142-7305-AF217EE7C750}"/>
              </a:ext>
            </a:extLst>
          </p:cNvPr>
          <p:cNvSpPr/>
          <p:nvPr/>
        </p:nvSpPr>
        <p:spPr>
          <a:xfrm>
            <a:off x="1207008" y="3511296"/>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UNO Q hardware approval button; NL policy drafting on Qualcomm (human-reviewed)</a:t>
            </a:r>
            <a:endParaRPr lang="en-US" sz="1150" dirty="0"/>
          </a:p>
        </p:txBody>
      </p:sp>
      <p:sp>
        <p:nvSpPr>
          <p:cNvPr id="18" name="Shape 16">
            <a:extLst>
              <a:ext uri="{FF2B5EF4-FFF2-40B4-BE49-F238E27FC236}">
                <a16:creationId xmlns:a16="http://schemas.microsoft.com/office/drawing/2014/main" id="{4123D4AD-F615-C37C-E8D3-5A919619C21C}"/>
              </a:ext>
            </a:extLst>
          </p:cNvPr>
          <p:cNvSpPr/>
          <p:nvPr/>
        </p:nvSpPr>
        <p:spPr>
          <a:xfrm>
            <a:off x="4315968" y="1234440"/>
            <a:ext cx="3328416" cy="3328416"/>
          </a:xfrm>
          <a:prstGeom prst="roundRect">
            <a:avLst>
              <a:gd name="adj" fmla="val 1374"/>
            </a:avLst>
          </a:prstGeom>
          <a:solidFill>
            <a:srgbClr val="EFF7E9"/>
          </a:solidFill>
          <a:ln w="15240">
            <a:solidFill>
              <a:srgbClr val="63A845"/>
            </a:solidFill>
            <a:prstDash val="solid"/>
          </a:ln>
          <a:effectLst/>
        </p:spPr>
        <p:txBody>
          <a:bodyPr/>
          <a:lstStyle/>
          <a:p>
            <a:endParaRPr lang="en-US"/>
          </a:p>
        </p:txBody>
      </p:sp>
      <p:sp>
        <p:nvSpPr>
          <p:cNvPr id="19" name="Text 17">
            <a:extLst>
              <a:ext uri="{FF2B5EF4-FFF2-40B4-BE49-F238E27FC236}">
                <a16:creationId xmlns:a16="http://schemas.microsoft.com/office/drawing/2014/main" id="{E78B694E-A30A-0B8A-FD8E-5860BD997613}"/>
              </a:ext>
            </a:extLst>
          </p:cNvPr>
          <p:cNvSpPr/>
          <p:nvPr/>
        </p:nvSpPr>
        <p:spPr>
          <a:xfrm>
            <a:off x="4498848" y="1517904"/>
            <a:ext cx="2962656" cy="256032"/>
          </a:xfrm>
          <a:prstGeom prst="rect">
            <a:avLst/>
          </a:prstGeom>
          <a:noFill/>
          <a:ln/>
        </p:spPr>
        <p:txBody>
          <a:bodyPr wrap="square" lIns="0" tIns="0" rIns="0" bIns="0" rtlCol="0" anchor="ctr"/>
          <a:lstStyle/>
          <a:p>
            <a:pPr marL="0" indent="0" algn="ctr">
              <a:buNone/>
            </a:pPr>
            <a:r>
              <a:rPr lang="en-US" sz="1100" b="1" dirty="0">
                <a:solidFill>
                  <a:srgbClr val="63A845"/>
                </a:solidFill>
              </a:rPr>
              <a:t>SCALABILITY</a:t>
            </a:r>
            <a:endParaRPr lang="en-US" sz="1100" dirty="0"/>
          </a:p>
        </p:txBody>
      </p:sp>
      <p:sp>
        <p:nvSpPr>
          <p:cNvPr id="20" name="Shape 18">
            <a:extLst>
              <a:ext uri="{FF2B5EF4-FFF2-40B4-BE49-F238E27FC236}">
                <a16:creationId xmlns:a16="http://schemas.microsoft.com/office/drawing/2014/main" id="{D6A46235-D561-ADBD-C4A3-3924B3265365}"/>
              </a:ext>
            </a:extLst>
          </p:cNvPr>
          <p:cNvSpPr/>
          <p:nvPr/>
        </p:nvSpPr>
        <p:spPr>
          <a:xfrm>
            <a:off x="4572000" y="2057400"/>
            <a:ext cx="274320" cy="274320"/>
          </a:xfrm>
          <a:prstGeom prst="ellipse">
            <a:avLst/>
          </a:prstGeom>
          <a:solidFill>
            <a:srgbClr val="63A845"/>
          </a:solidFill>
          <a:ln w="12700">
            <a:solidFill>
              <a:srgbClr val="63A845"/>
            </a:solidFill>
            <a:prstDash val="solid"/>
          </a:ln>
        </p:spPr>
        <p:txBody>
          <a:bodyPr/>
          <a:lstStyle/>
          <a:p>
            <a:endParaRPr lang="en-US"/>
          </a:p>
        </p:txBody>
      </p:sp>
      <p:sp>
        <p:nvSpPr>
          <p:cNvPr id="21" name="Text 19">
            <a:extLst>
              <a:ext uri="{FF2B5EF4-FFF2-40B4-BE49-F238E27FC236}">
                <a16:creationId xmlns:a16="http://schemas.microsoft.com/office/drawing/2014/main" id="{ACBD2492-C85F-DFD2-77A4-140CA990A449}"/>
              </a:ext>
            </a:extLst>
          </p:cNvPr>
          <p:cNvSpPr/>
          <p:nvPr/>
        </p:nvSpPr>
        <p:spPr>
          <a:xfrm>
            <a:off x="4572000" y="2121408"/>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22" name="Text 20">
            <a:extLst>
              <a:ext uri="{FF2B5EF4-FFF2-40B4-BE49-F238E27FC236}">
                <a16:creationId xmlns:a16="http://schemas.microsoft.com/office/drawing/2014/main" id="{4523C4A3-AF7A-BCF9-4C79-B65B8C93B5BF}"/>
              </a:ext>
            </a:extLst>
          </p:cNvPr>
          <p:cNvSpPr/>
          <p:nvPr/>
        </p:nvSpPr>
        <p:spPr>
          <a:xfrm>
            <a:off x="4974336" y="2011680"/>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Stateless decision service, per-tenant policy + model; horizontal scale</a:t>
            </a:r>
            <a:endParaRPr lang="en-US" sz="1150" dirty="0"/>
          </a:p>
        </p:txBody>
      </p:sp>
      <p:sp>
        <p:nvSpPr>
          <p:cNvPr id="23" name="Shape 21">
            <a:extLst>
              <a:ext uri="{FF2B5EF4-FFF2-40B4-BE49-F238E27FC236}">
                <a16:creationId xmlns:a16="http://schemas.microsoft.com/office/drawing/2014/main" id="{A01F56B0-A693-A209-E08F-D159EC9E6AA5}"/>
              </a:ext>
            </a:extLst>
          </p:cNvPr>
          <p:cNvSpPr/>
          <p:nvPr/>
        </p:nvSpPr>
        <p:spPr>
          <a:xfrm>
            <a:off x="4572000" y="2807208"/>
            <a:ext cx="274320" cy="274320"/>
          </a:xfrm>
          <a:prstGeom prst="ellipse">
            <a:avLst/>
          </a:prstGeom>
          <a:solidFill>
            <a:srgbClr val="63A845"/>
          </a:solidFill>
          <a:ln w="12700">
            <a:solidFill>
              <a:srgbClr val="63A845"/>
            </a:solidFill>
            <a:prstDash val="solid"/>
          </a:ln>
        </p:spPr>
        <p:txBody>
          <a:bodyPr/>
          <a:lstStyle/>
          <a:p>
            <a:endParaRPr lang="en-US"/>
          </a:p>
        </p:txBody>
      </p:sp>
      <p:sp>
        <p:nvSpPr>
          <p:cNvPr id="24" name="Text 22">
            <a:extLst>
              <a:ext uri="{FF2B5EF4-FFF2-40B4-BE49-F238E27FC236}">
                <a16:creationId xmlns:a16="http://schemas.microsoft.com/office/drawing/2014/main" id="{7274A77C-A71A-25BF-B7CB-E507D3F09840}"/>
              </a:ext>
            </a:extLst>
          </p:cNvPr>
          <p:cNvSpPr/>
          <p:nvPr/>
        </p:nvSpPr>
        <p:spPr>
          <a:xfrm>
            <a:off x="4572000" y="2871216"/>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25" name="Text 23">
            <a:extLst>
              <a:ext uri="{FF2B5EF4-FFF2-40B4-BE49-F238E27FC236}">
                <a16:creationId xmlns:a16="http://schemas.microsoft.com/office/drawing/2014/main" id="{F59797C0-B1E9-1A06-FEAC-1BB1DF00DF40}"/>
              </a:ext>
            </a:extLst>
          </p:cNvPr>
          <p:cNvSpPr/>
          <p:nvPr/>
        </p:nvSpPr>
        <p:spPr>
          <a:xfrm>
            <a:off x="4974336" y="2761488"/>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Cost-ordered: ~1 ms gates for all; sandbox for writes; LLM only for the ambiguous few</a:t>
            </a:r>
            <a:endParaRPr lang="en-US" sz="1150" dirty="0"/>
          </a:p>
        </p:txBody>
      </p:sp>
      <p:sp>
        <p:nvSpPr>
          <p:cNvPr id="26" name="Shape 24">
            <a:extLst>
              <a:ext uri="{FF2B5EF4-FFF2-40B4-BE49-F238E27FC236}">
                <a16:creationId xmlns:a16="http://schemas.microsoft.com/office/drawing/2014/main" id="{DAA083A2-F0E1-5E36-65CB-1205E57A4789}"/>
              </a:ext>
            </a:extLst>
          </p:cNvPr>
          <p:cNvSpPr/>
          <p:nvPr/>
        </p:nvSpPr>
        <p:spPr>
          <a:xfrm>
            <a:off x="4572000" y="3557016"/>
            <a:ext cx="274320" cy="274320"/>
          </a:xfrm>
          <a:prstGeom prst="ellipse">
            <a:avLst/>
          </a:prstGeom>
          <a:solidFill>
            <a:srgbClr val="63A845"/>
          </a:solidFill>
          <a:ln w="12700">
            <a:solidFill>
              <a:srgbClr val="63A845"/>
            </a:solidFill>
            <a:prstDash val="solid"/>
          </a:ln>
        </p:spPr>
        <p:txBody>
          <a:bodyPr/>
          <a:lstStyle/>
          <a:p>
            <a:endParaRPr lang="en-US"/>
          </a:p>
        </p:txBody>
      </p:sp>
      <p:sp>
        <p:nvSpPr>
          <p:cNvPr id="27" name="Text 25">
            <a:extLst>
              <a:ext uri="{FF2B5EF4-FFF2-40B4-BE49-F238E27FC236}">
                <a16:creationId xmlns:a16="http://schemas.microsoft.com/office/drawing/2014/main" id="{955E400B-0DA7-FB30-AE56-027037CBC9EE}"/>
              </a:ext>
            </a:extLst>
          </p:cNvPr>
          <p:cNvSpPr/>
          <p:nvPr/>
        </p:nvSpPr>
        <p:spPr>
          <a:xfrm>
            <a:off x="4572000" y="3621024"/>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28" name="Text 26">
            <a:extLst>
              <a:ext uri="{FF2B5EF4-FFF2-40B4-BE49-F238E27FC236}">
                <a16:creationId xmlns:a16="http://schemas.microsoft.com/office/drawing/2014/main" id="{EA808832-6AE1-4B46-E1CA-A2D73E9E145C}"/>
              </a:ext>
            </a:extLst>
          </p:cNvPr>
          <p:cNvSpPr/>
          <p:nvPr/>
        </p:nvSpPr>
        <p:spPr>
          <a:xfrm>
            <a:off x="4974336" y="3511296"/>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Copy-on-write DB branches, WORM receipt store, calibration-drift monitoring</a:t>
            </a:r>
            <a:endParaRPr lang="en-US" sz="1150" dirty="0"/>
          </a:p>
        </p:txBody>
      </p:sp>
      <p:sp>
        <p:nvSpPr>
          <p:cNvPr id="29" name="Shape 27">
            <a:extLst>
              <a:ext uri="{FF2B5EF4-FFF2-40B4-BE49-F238E27FC236}">
                <a16:creationId xmlns:a16="http://schemas.microsoft.com/office/drawing/2014/main" id="{94175C34-82E2-05B7-4850-C3D50815A80A}"/>
              </a:ext>
            </a:extLst>
          </p:cNvPr>
          <p:cNvSpPr/>
          <p:nvPr/>
        </p:nvSpPr>
        <p:spPr>
          <a:xfrm>
            <a:off x="8083296" y="1234440"/>
            <a:ext cx="3328416" cy="3328416"/>
          </a:xfrm>
          <a:prstGeom prst="roundRect">
            <a:avLst>
              <a:gd name="adj" fmla="val 1374"/>
            </a:avLst>
          </a:prstGeom>
          <a:solidFill>
            <a:srgbClr val="F3EEFC"/>
          </a:solidFill>
          <a:ln w="15240">
            <a:solidFill>
              <a:srgbClr val="5417A8"/>
            </a:solidFill>
            <a:prstDash val="solid"/>
          </a:ln>
          <a:effectLst/>
        </p:spPr>
        <p:txBody>
          <a:bodyPr/>
          <a:lstStyle/>
          <a:p>
            <a:endParaRPr lang="en-US"/>
          </a:p>
        </p:txBody>
      </p:sp>
      <p:sp>
        <p:nvSpPr>
          <p:cNvPr id="30" name="Text 28">
            <a:extLst>
              <a:ext uri="{FF2B5EF4-FFF2-40B4-BE49-F238E27FC236}">
                <a16:creationId xmlns:a16="http://schemas.microsoft.com/office/drawing/2014/main" id="{77E5A850-037C-C666-5AFF-114DA39F882E}"/>
              </a:ext>
            </a:extLst>
          </p:cNvPr>
          <p:cNvSpPr/>
          <p:nvPr/>
        </p:nvSpPr>
        <p:spPr>
          <a:xfrm>
            <a:off x="8266176" y="1517904"/>
            <a:ext cx="2962656" cy="256032"/>
          </a:xfrm>
          <a:prstGeom prst="rect">
            <a:avLst/>
          </a:prstGeom>
          <a:noFill/>
          <a:ln/>
        </p:spPr>
        <p:txBody>
          <a:bodyPr wrap="square" lIns="0" tIns="0" rIns="0" bIns="0" rtlCol="0" anchor="ctr"/>
          <a:lstStyle/>
          <a:p>
            <a:pPr marL="0" indent="0" algn="ctr">
              <a:buNone/>
            </a:pPr>
            <a:r>
              <a:rPr lang="en-US" sz="1100" b="1" dirty="0">
                <a:solidFill>
                  <a:srgbClr val="5417A8"/>
                </a:solidFill>
              </a:rPr>
              <a:t>SECURITY &amp; RESPONSIBLE AI</a:t>
            </a:r>
            <a:endParaRPr lang="en-US" sz="1100" dirty="0"/>
          </a:p>
        </p:txBody>
      </p:sp>
      <p:sp>
        <p:nvSpPr>
          <p:cNvPr id="31" name="Shape 29">
            <a:extLst>
              <a:ext uri="{FF2B5EF4-FFF2-40B4-BE49-F238E27FC236}">
                <a16:creationId xmlns:a16="http://schemas.microsoft.com/office/drawing/2014/main" id="{572EF5A6-F6FE-D75C-601C-909357D3363E}"/>
              </a:ext>
            </a:extLst>
          </p:cNvPr>
          <p:cNvSpPr/>
          <p:nvPr/>
        </p:nvSpPr>
        <p:spPr>
          <a:xfrm>
            <a:off x="8339328" y="2057400"/>
            <a:ext cx="274320" cy="274320"/>
          </a:xfrm>
          <a:prstGeom prst="ellipse">
            <a:avLst/>
          </a:prstGeom>
          <a:solidFill>
            <a:srgbClr val="5417A8"/>
          </a:solidFill>
          <a:ln w="12700">
            <a:solidFill>
              <a:srgbClr val="5417A8"/>
            </a:solidFill>
            <a:prstDash val="solid"/>
          </a:ln>
        </p:spPr>
        <p:txBody>
          <a:bodyPr/>
          <a:lstStyle/>
          <a:p>
            <a:endParaRPr lang="en-US"/>
          </a:p>
        </p:txBody>
      </p:sp>
      <p:sp>
        <p:nvSpPr>
          <p:cNvPr id="32" name="Text 30">
            <a:extLst>
              <a:ext uri="{FF2B5EF4-FFF2-40B4-BE49-F238E27FC236}">
                <a16:creationId xmlns:a16="http://schemas.microsoft.com/office/drawing/2014/main" id="{20D54195-A988-4B53-E7FE-B97E5A03DAEF}"/>
              </a:ext>
            </a:extLst>
          </p:cNvPr>
          <p:cNvSpPr/>
          <p:nvPr/>
        </p:nvSpPr>
        <p:spPr>
          <a:xfrm>
            <a:off x="8339328" y="2121408"/>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33" name="Text 31">
            <a:extLst>
              <a:ext uri="{FF2B5EF4-FFF2-40B4-BE49-F238E27FC236}">
                <a16:creationId xmlns:a16="http://schemas.microsoft.com/office/drawing/2014/main" id="{ADF6954F-1764-9F3A-7337-4A8FAACE97CB}"/>
              </a:ext>
            </a:extLst>
          </p:cNvPr>
          <p:cNvSpPr/>
          <p:nvPr/>
        </p:nvSpPr>
        <p:spPr>
          <a:xfrm>
            <a:off x="8741664" y="2011680"/>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Tools reachable only via the gateway; RBAC + four-eyes approvals</a:t>
            </a:r>
            <a:endParaRPr lang="en-US" sz="1150" dirty="0"/>
          </a:p>
        </p:txBody>
      </p:sp>
      <p:sp>
        <p:nvSpPr>
          <p:cNvPr id="34" name="Shape 32">
            <a:extLst>
              <a:ext uri="{FF2B5EF4-FFF2-40B4-BE49-F238E27FC236}">
                <a16:creationId xmlns:a16="http://schemas.microsoft.com/office/drawing/2014/main" id="{A78230A6-A314-ECB7-1463-1135EBCEA2EC}"/>
              </a:ext>
            </a:extLst>
          </p:cNvPr>
          <p:cNvSpPr/>
          <p:nvPr/>
        </p:nvSpPr>
        <p:spPr>
          <a:xfrm>
            <a:off x="8339328" y="2807208"/>
            <a:ext cx="274320" cy="274320"/>
          </a:xfrm>
          <a:prstGeom prst="ellipse">
            <a:avLst/>
          </a:prstGeom>
          <a:solidFill>
            <a:srgbClr val="5417A8"/>
          </a:solidFill>
          <a:ln w="12700">
            <a:solidFill>
              <a:srgbClr val="5417A8"/>
            </a:solidFill>
            <a:prstDash val="solid"/>
          </a:ln>
        </p:spPr>
        <p:txBody>
          <a:bodyPr/>
          <a:lstStyle/>
          <a:p>
            <a:endParaRPr lang="en-US"/>
          </a:p>
        </p:txBody>
      </p:sp>
      <p:sp>
        <p:nvSpPr>
          <p:cNvPr id="35" name="Text 33">
            <a:extLst>
              <a:ext uri="{FF2B5EF4-FFF2-40B4-BE49-F238E27FC236}">
                <a16:creationId xmlns:a16="http://schemas.microsoft.com/office/drawing/2014/main" id="{F9156590-143F-3B3B-FF3A-C1648DD71AED}"/>
              </a:ext>
            </a:extLst>
          </p:cNvPr>
          <p:cNvSpPr/>
          <p:nvPr/>
        </p:nvSpPr>
        <p:spPr>
          <a:xfrm>
            <a:off x="8339328" y="2871216"/>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36" name="Text 34">
            <a:extLst>
              <a:ext uri="{FF2B5EF4-FFF2-40B4-BE49-F238E27FC236}">
                <a16:creationId xmlns:a16="http://schemas.microsoft.com/office/drawing/2014/main" id="{0EE7A8D7-660E-8C1F-2A72-0B99BDA4970B}"/>
              </a:ext>
            </a:extLst>
          </p:cNvPr>
          <p:cNvSpPr/>
          <p:nvPr/>
        </p:nvSpPr>
        <p:spPr>
          <a:xfrm>
            <a:off x="8741664" y="2761488"/>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Secrets never enter agent context; PII masked in receipts; data minimisation</a:t>
            </a:r>
            <a:endParaRPr lang="en-US" sz="1150" dirty="0"/>
          </a:p>
        </p:txBody>
      </p:sp>
      <p:sp>
        <p:nvSpPr>
          <p:cNvPr id="37" name="Shape 35">
            <a:extLst>
              <a:ext uri="{FF2B5EF4-FFF2-40B4-BE49-F238E27FC236}">
                <a16:creationId xmlns:a16="http://schemas.microsoft.com/office/drawing/2014/main" id="{E7D38FEE-337E-80C6-824A-B6C1C06ACFE3}"/>
              </a:ext>
            </a:extLst>
          </p:cNvPr>
          <p:cNvSpPr/>
          <p:nvPr/>
        </p:nvSpPr>
        <p:spPr>
          <a:xfrm>
            <a:off x="8339328" y="3557016"/>
            <a:ext cx="274320" cy="274320"/>
          </a:xfrm>
          <a:prstGeom prst="ellipse">
            <a:avLst/>
          </a:prstGeom>
          <a:solidFill>
            <a:srgbClr val="5417A8"/>
          </a:solidFill>
          <a:ln w="12700">
            <a:solidFill>
              <a:srgbClr val="5417A8"/>
            </a:solidFill>
            <a:prstDash val="solid"/>
          </a:ln>
        </p:spPr>
        <p:txBody>
          <a:bodyPr/>
          <a:lstStyle/>
          <a:p>
            <a:endParaRPr lang="en-US"/>
          </a:p>
        </p:txBody>
      </p:sp>
      <p:sp>
        <p:nvSpPr>
          <p:cNvPr id="38" name="Text 36">
            <a:extLst>
              <a:ext uri="{FF2B5EF4-FFF2-40B4-BE49-F238E27FC236}">
                <a16:creationId xmlns:a16="http://schemas.microsoft.com/office/drawing/2014/main" id="{329D6E21-2C3E-4C29-D882-BDBE35D311A2}"/>
              </a:ext>
            </a:extLst>
          </p:cNvPr>
          <p:cNvSpPr/>
          <p:nvPr/>
        </p:nvSpPr>
        <p:spPr>
          <a:xfrm>
            <a:off x="8339328" y="3621024"/>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39" name="Text 37">
            <a:extLst>
              <a:ext uri="{FF2B5EF4-FFF2-40B4-BE49-F238E27FC236}">
                <a16:creationId xmlns:a16="http://schemas.microsoft.com/office/drawing/2014/main" id="{64E8A2C8-E883-48F1-9F5D-E38C087D7F5B}"/>
              </a:ext>
            </a:extLst>
          </p:cNvPr>
          <p:cNvSpPr/>
          <p:nvPr/>
        </p:nvSpPr>
        <p:spPr>
          <a:xfrm>
            <a:off x="8741664" y="3511296"/>
            <a:ext cx="2359152" cy="448056"/>
          </a:xfrm>
          <a:prstGeom prst="rect">
            <a:avLst/>
          </a:prstGeom>
          <a:noFill/>
          <a:ln/>
        </p:spPr>
        <p:txBody>
          <a:bodyPr wrap="square" lIns="254" tIns="254" rIns="254" bIns="254" rtlCol="0" anchor="ctr">
            <a:normAutofit/>
          </a:bodyPr>
          <a:lstStyle/>
          <a:p>
            <a:pPr marL="0" indent="0">
              <a:buNone/>
            </a:pPr>
            <a:r>
              <a:rPr sz="1000" b="0" i="0">
                <a:solidFill>
                  <a:srgbClr val="1F2937"/>
                </a:solidFill>
              </a:rPr>
              <a:t>Fail-closed; hash-chained receipts; versioned policy; human override always</a:t>
            </a:r>
            <a:endParaRPr lang="en-US" sz="1150" dirty="0"/>
          </a:p>
        </p:txBody>
      </p:sp>
      <p:grpSp>
        <p:nvGrpSpPr>
          <p:cNvPr id="49" name="Group 48">
            <a:extLst>
              <a:ext uri="{FF2B5EF4-FFF2-40B4-BE49-F238E27FC236}">
                <a16:creationId xmlns:a16="http://schemas.microsoft.com/office/drawing/2014/main" id="{A8AF663B-44B3-A460-4E36-390658D4A35F}"/>
              </a:ext>
            </a:extLst>
          </p:cNvPr>
          <p:cNvGrpSpPr/>
          <p:nvPr/>
        </p:nvGrpSpPr>
        <p:grpSpPr>
          <a:xfrm>
            <a:off x="601630" y="4809744"/>
            <a:ext cx="10810082" cy="621792"/>
            <a:chOff x="475488" y="5468112"/>
            <a:chExt cx="11228832" cy="621792"/>
          </a:xfrm>
        </p:grpSpPr>
        <p:sp>
          <p:nvSpPr>
            <p:cNvPr id="43" name="Shape 41">
              <a:extLst>
                <a:ext uri="{FF2B5EF4-FFF2-40B4-BE49-F238E27FC236}">
                  <a16:creationId xmlns:a16="http://schemas.microsoft.com/office/drawing/2014/main" id="{EA07F995-155A-7F82-35EC-57C0D2675BF7}"/>
                </a:ext>
              </a:extLst>
            </p:cNvPr>
            <p:cNvSpPr/>
            <p:nvPr/>
          </p:nvSpPr>
          <p:spPr>
            <a:xfrm>
              <a:off x="475488" y="5468112"/>
              <a:ext cx="11228832" cy="621792"/>
            </a:xfrm>
            <a:prstGeom prst="roundRect">
              <a:avLst>
                <a:gd name="adj" fmla="val 8824"/>
              </a:avLst>
            </a:prstGeom>
            <a:solidFill>
              <a:srgbClr val="F8FAFC"/>
            </a:solidFill>
            <a:ln w="12700">
              <a:solidFill>
                <a:srgbClr val="DCE5EC"/>
              </a:solidFill>
              <a:prstDash val="solid"/>
            </a:ln>
          </p:spPr>
          <p:txBody>
            <a:bodyPr/>
            <a:lstStyle/>
            <a:p>
              <a:endParaRPr lang="en-US"/>
            </a:p>
          </p:txBody>
        </p:sp>
        <p:sp>
          <p:nvSpPr>
            <p:cNvPr id="44" name="Shape 42">
              <a:extLst>
                <a:ext uri="{FF2B5EF4-FFF2-40B4-BE49-F238E27FC236}">
                  <a16:creationId xmlns:a16="http://schemas.microsoft.com/office/drawing/2014/main" id="{3790E51B-8A20-10D9-EE10-45CC89B643CB}"/>
                </a:ext>
              </a:extLst>
            </p:cNvPr>
            <p:cNvSpPr/>
            <p:nvPr/>
          </p:nvSpPr>
          <p:spPr>
            <a:xfrm>
              <a:off x="475488" y="5468112"/>
              <a:ext cx="82296" cy="621792"/>
            </a:xfrm>
            <a:prstGeom prst="rect">
              <a:avLst/>
            </a:prstGeom>
            <a:solidFill>
              <a:srgbClr val="63A845"/>
            </a:solidFill>
            <a:ln w="12700">
              <a:solidFill>
                <a:srgbClr val="63A845"/>
              </a:solidFill>
              <a:prstDash val="solid"/>
            </a:ln>
          </p:spPr>
          <p:txBody>
            <a:bodyPr/>
            <a:lstStyle/>
            <a:p>
              <a:endParaRPr lang="en-US"/>
            </a:p>
          </p:txBody>
        </p:sp>
        <p:sp>
          <p:nvSpPr>
            <p:cNvPr id="45" name="Text 43">
              <a:extLst>
                <a:ext uri="{FF2B5EF4-FFF2-40B4-BE49-F238E27FC236}">
                  <a16:creationId xmlns:a16="http://schemas.microsoft.com/office/drawing/2014/main" id="{A3A70DFD-9EF8-4647-E39D-B89EA725BF93}"/>
                </a:ext>
              </a:extLst>
            </p:cNvPr>
            <p:cNvSpPr/>
            <p:nvPr/>
          </p:nvSpPr>
          <p:spPr>
            <a:xfrm>
              <a:off x="713232" y="5596128"/>
              <a:ext cx="960120" cy="164592"/>
            </a:xfrm>
            <a:prstGeom prst="rect">
              <a:avLst/>
            </a:prstGeom>
            <a:noFill/>
            <a:ln/>
          </p:spPr>
          <p:txBody>
            <a:bodyPr wrap="square" lIns="0" tIns="0" rIns="0" bIns="0" rtlCol="0" anchor="ctr"/>
            <a:lstStyle/>
            <a:p>
              <a:pPr marL="0" indent="0">
                <a:buNone/>
              </a:pPr>
              <a:r>
                <a:rPr sz="900" b="1" i="0">
                  <a:solidFill>
                    <a:srgbClr val="63A845"/>
                  </a:solidFill>
                </a:rPr>
                <a:t>NOW vs NEXT</a:t>
              </a:r>
              <a:endParaRPr lang="en-US" sz="900" dirty="0"/>
            </a:p>
          </p:txBody>
        </p:sp>
        <p:sp>
          <p:nvSpPr>
            <p:cNvPr id="46" name="Text 44">
              <a:extLst>
                <a:ext uri="{FF2B5EF4-FFF2-40B4-BE49-F238E27FC236}">
                  <a16:creationId xmlns:a16="http://schemas.microsoft.com/office/drawing/2014/main" id="{C15B45A3-CF6C-BE2C-9CBD-9C54F766EA9F}"/>
                </a:ext>
              </a:extLst>
            </p:cNvPr>
            <p:cNvSpPr/>
            <p:nvPr/>
          </p:nvSpPr>
          <p:spPr>
            <a:xfrm>
              <a:off x="1993392" y="5559552"/>
              <a:ext cx="9326880" cy="457200"/>
            </a:xfrm>
            <a:prstGeom prst="rect">
              <a:avLst/>
            </a:prstGeom>
            <a:noFill/>
            <a:ln/>
          </p:spPr>
          <p:txBody>
            <a:bodyPr wrap="square" lIns="381" tIns="381" rIns="381" bIns="381" rtlCol="0" anchor="ctr"/>
            <a:lstStyle/>
            <a:p>
              <a:pPr marL="177800" indent="-177800">
                <a:buSzPct val="100000"/>
                <a:buChar char="•"/>
              </a:pPr>
              <a:r>
                <a:rPr sz="1000" b="1" i="0">
                  <a:solidFill>
                    <a:srgbClr val="1F2937"/>
                  </a:solidFill>
                </a:rPr>
                <a:t>Works now:</a:t>
              </a:r>
              <a:r>
                <a:rPr sz="1000" b="0" i="0">
                  <a:solidFill>
                    <a:srgbClr val="1F2937"/>
                  </a:solidFill>
                </a:rPr>
                <a:t> gateway, 12 rules, provenance, SQL/file sandbox, calibrated risk + HITL, receipts, undo, MCP front door, Qualcomm client, benchmark.</a:t>
              </a:r>
              <a:endParaRPr lang="en-US" sz="1100" dirty="0"/>
            </a:p>
            <a:p>
              <a:pPr marL="177800" indent="-177800">
                <a:buSzPct val="100000"/>
                <a:buChar char="•"/>
              </a:pPr>
              <a:r>
                <a:rPr sz="1000" b="1" i="0">
                  <a:solidFill>
                    <a:srgbClr val="1F2937"/>
                  </a:solidFill>
                </a:rPr>
                <a:t>Next:</a:t>
              </a:r>
              <a:r>
                <a:rPr sz="1000" b="0" i="0">
                  <a:solidFill>
                    <a:srgbClr val="1F2937"/>
                  </a:solidFill>
                </a:rPr>
                <a:t> Foundry plug-in and published-benchmark ports. </a:t>
              </a:r>
              <a:r>
                <a:rPr sz="1000" b="1" i="0">
                  <a:solidFill>
                    <a:srgbClr val="1F2937"/>
                  </a:solidFill>
                </a:rPr>
                <a:t>Key safeguard:</a:t>
              </a:r>
              <a:r>
                <a:rPr sz="1000" b="0" i="0">
                  <a:solidFill>
                    <a:srgbClr val="1F2937"/>
                  </a:solidFill>
                </a:rPr>
                <a:t> an LLM can never turn a DENY into an ALLOW.</a:t>
              </a:r>
            </a:p>
          </p:txBody>
        </p:sp>
      </p:grpSp>
      <p:sp>
        <p:nvSpPr>
          <p:cNvPr id="47" name="Slide Number Placeholder 0">
            <a:extLst>
              <a:ext uri="{FF2B5EF4-FFF2-40B4-BE49-F238E27FC236}">
                <a16:creationId xmlns:a16="http://schemas.microsoft.com/office/drawing/2014/main" id="{0506221D-ED44-2465-649A-FB3BBE3BC509}"/>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7</a:t>
            </a:fld>
            <a:endParaRPr lang="en-US"/>
          </a:p>
        </p:txBody>
      </p:sp>
    </p:spTree>
    <p:extLst>
      <p:ext uri="{BB962C8B-B14F-4D97-AF65-F5344CB8AC3E}">
        <p14:creationId xmlns:p14="http://schemas.microsoft.com/office/powerpoint/2010/main" val="40111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6E8202-D62C-BAF4-43B0-F1FC010967B8}"/>
              </a:ext>
            </a:extLst>
          </p:cNvPr>
          <p:cNvSpPr txBox="1"/>
          <p:nvPr/>
        </p:nvSpPr>
        <p:spPr>
          <a:xfrm>
            <a:off x="3297836" y="2173574"/>
            <a:ext cx="5801194" cy="1015663"/>
          </a:xfrm>
          <a:prstGeom prst="rect">
            <a:avLst/>
          </a:prstGeom>
          <a:noFill/>
        </p:spPr>
        <p:txBody>
          <a:bodyPr wrap="square" rtlCol="0">
            <a:spAutoFit/>
          </a:bodyPr>
          <a:lstStyle/>
          <a:p>
            <a:pPr algn="ctr"/>
            <a:r>
              <a:rPr lang="en-US" sz="6000" dirty="0"/>
              <a:t>DEMO</a:t>
            </a:r>
          </a:p>
        </p:txBody>
      </p:sp>
      <p:sp>
        <p:nvSpPr>
          <p:cNvPr id="3" name="TextBox 2"/>
          <p:cNvSpPr txBox="1"/>
          <p:nvPr/>
        </p:nvSpPr>
        <p:spPr>
          <a:xfrm>
            <a:off x="2000000" y="3500000"/>
            <a:ext cx="8200000" cy="1900000"/>
          </a:xfrm>
          <a:prstGeom prst="rect">
            <a:avLst/>
          </a:prstGeom>
          <a:noFill/>
        </p:spPr>
        <p:txBody>
          <a:bodyPr wrap="square">
            <a:spAutoFit/>
          </a:bodyPr>
          <a:lstStyle/>
          <a:p>
            <a:r>
              <a:rPr sz="1300" b="0" i="0">
                <a:solidFill>
                  <a:srgbClr val="1F2937"/>
                </a:solidFill>
              </a:rPr>
              <a:t>1  Injected email → agent tries to send 200 customers’ phones → </a:t>
            </a:r>
            <a:r>
              <a:rPr sz="1300" b="1" i="0">
                <a:solidFill>
                  <a:srgbClr val="1F2937"/>
                </a:solidFill>
              </a:rPr>
              <a:t>DENY [R1]</a:t>
            </a:r>
            <a:r>
              <a:rPr sz="1300" b="0" i="0">
                <a:solidFill>
                  <a:srgbClr val="1F2937"/>
                </a:solidFill>
              </a:rPr>
              <a:t>, recipient traced to msg-4471</a:t>
            </a:r>
          </a:p>
          <a:p>
            <a:r>
              <a:rPr sz="1300" b="0" i="0">
                <a:solidFill>
                  <a:srgbClr val="1F2937"/>
                </a:solidFill>
              </a:rPr>
              <a:t>2  “Mark inactive customers dormant” → sandbox: 16 rows, reversible → </a:t>
            </a:r>
            <a:r>
              <a:rPr sz="1300" b="1" i="0">
                <a:solidFill>
                  <a:srgbClr val="1F2937"/>
                </a:solidFill>
              </a:rPr>
              <a:t>ALLOW + UNDO</a:t>
            </a:r>
            <a:r>
              <a:rPr sz="1300" b="0" i="0">
                <a:solidFill>
                  <a:srgbClr val="1F2937"/>
                </a:solidFill>
              </a:rPr>
              <a:t> → click Undo</a:t>
            </a:r>
          </a:p>
          <a:p>
            <a:r>
              <a:rPr sz="1300" b="0" i="0">
                <a:solidFill>
                  <a:srgbClr val="1F2937"/>
                </a:solidFill>
              </a:rPr>
              <a:t>3  “Tidy up the CRM” → DELETE without WHERE: 480 rows → </a:t>
            </a:r>
            <a:r>
              <a:rPr sz="1300" b="1" i="0">
                <a:solidFill>
                  <a:srgbClr val="1F2937"/>
                </a:solidFill>
              </a:rPr>
              <a:t>ESCALATE</a:t>
            </a:r>
            <a:r>
              <a:rPr sz="1300" b="0" i="0">
                <a:solidFill>
                  <a:srgbClr val="1F2937"/>
                </a:solidFill>
              </a:rPr>
              <a:t> with consequence card</a:t>
            </a:r>
          </a:p>
          <a:p>
            <a:r>
              <a:rPr sz="1300" b="0" i="0">
                <a:solidFill>
                  <a:srgbClr val="1F2937"/>
                </a:solidFill>
              </a:rPr>
              <a:t>4  Injected bank details → ₹95,000 transfer → </a:t>
            </a:r>
            <a:r>
              <a:rPr sz="1300" b="1" i="0">
                <a:solidFill>
                  <a:srgbClr val="1F2937"/>
                </a:solidFill>
              </a:rPr>
              <a:t>DENY</a:t>
            </a:r>
            <a:r>
              <a:rPr sz="1300" b="0" i="0">
                <a:solidFill>
                  <a:srgbClr val="1F2937"/>
                </a:solidFill>
              </a:rPr>
              <a:t>;  refund 12,000 → human approval (R5)</a:t>
            </a:r>
          </a:p>
          <a:p>
            <a:r>
              <a:rPr sz="1300" b="0" i="0">
                <a:solidFill>
                  <a:srgbClr val="1F2937"/>
                </a:solidFill>
              </a:rPr>
              <a:t>5  Tamper with a receipt → chain verification breaks at that record</a:t>
            </a:r>
          </a:p>
        </p:txBody>
      </p:sp>
    </p:spTree>
    <p:extLst>
      <p:ext uri="{BB962C8B-B14F-4D97-AF65-F5344CB8AC3E}">
        <p14:creationId xmlns:p14="http://schemas.microsoft.com/office/powerpoint/2010/main" val="3057323625"/>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56032"/>
            <a:ext cx="8869680" cy="420000"/>
          </a:xfrm>
          <a:prstGeom prst="rect">
            <a:avLst/>
          </a:prstGeom>
          <a:noFill/>
        </p:spPr>
        <p:txBody>
          <a:bodyPr wrap="square">
            <a:spAutoFit/>
          </a:bodyPr>
          <a:lstStyle/>
          <a:p>
            <a:r>
              <a:rPr sz="2400" b="0" i="0">
                <a:solidFill>
                  <a:srgbClr val="111827"/>
                </a:solidFill>
                <a:latin typeface="Aptos Display"/>
              </a:rPr>
              <a:t>Appendix A · Architecture and data flow</a:t>
            </a:r>
          </a:p>
        </p:txBody>
      </p:sp>
      <p:sp>
        <p:nvSpPr>
          <p:cNvPr id="3" name="TextBox 2"/>
          <p:cNvSpPr txBox="1"/>
          <p:nvPr/>
        </p:nvSpPr>
        <p:spPr>
          <a:xfrm>
            <a:off x="475488" y="680000"/>
            <a:ext cx="9300000" cy="260000"/>
          </a:xfrm>
          <a:prstGeom prst="rect">
            <a:avLst/>
          </a:prstGeom>
          <a:noFill/>
        </p:spPr>
        <p:txBody>
          <a:bodyPr wrap="square">
            <a:spAutoFit/>
          </a:bodyPr>
          <a:lstStyle/>
          <a:p>
            <a:r>
              <a:rPr sz="1050" b="0" i="0">
                <a:solidFill>
                  <a:srgbClr val="5B6573"/>
                </a:solidFill>
              </a:rPr>
              <a:t>Stages 1–4 and 7 are deterministic; 6 is a small calibrated model; 5 and 8 may call the Qualcomm-hosted LLM.</a:t>
            </a:r>
          </a:p>
        </p:txBody>
      </p:sp>
      <p:pic>
        <p:nvPicPr>
          <p:cNvPr id="4" name="Picture 3" descr="architecture.png"/>
          <p:cNvPicPr>
            <a:picLocks noChangeAspect="1"/>
          </p:cNvPicPr>
          <p:nvPr/>
        </p:nvPicPr>
        <p:blipFill>
          <a:blip r:embed="rId2"/>
          <a:stretch>
            <a:fillRect/>
          </a:stretch>
        </p:blipFill>
        <p:spPr>
          <a:xfrm>
            <a:off x="800000" y="1000000"/>
            <a:ext cx="10500000" cy="464761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56032"/>
            <a:ext cx="8869680" cy="420000"/>
          </a:xfrm>
          <a:prstGeom prst="rect">
            <a:avLst/>
          </a:prstGeom>
          <a:noFill/>
        </p:spPr>
        <p:txBody>
          <a:bodyPr wrap="square">
            <a:spAutoFit/>
          </a:bodyPr>
          <a:lstStyle/>
          <a:p>
            <a:r>
              <a:rPr sz="2400" b="0" i="0">
                <a:solidFill>
                  <a:srgbClr val="111827"/>
                </a:solidFill>
                <a:latin typeface="Aptos Display"/>
              </a:rPr>
              <a:t>Appendix B · Decision logic, confidence, human-in-the-loop</a:t>
            </a:r>
          </a:p>
        </p:txBody>
      </p:sp>
      <p:pic>
        <p:nvPicPr>
          <p:cNvPr id="3" name="Picture 2" descr="decision_flow.png"/>
          <p:cNvPicPr>
            <a:picLocks noChangeAspect="1"/>
          </p:cNvPicPr>
          <p:nvPr/>
        </p:nvPicPr>
        <p:blipFill>
          <a:blip r:embed="rId2"/>
          <a:stretch>
            <a:fillRect/>
          </a:stretch>
        </p:blipFill>
        <p:spPr>
          <a:xfrm>
            <a:off x="475488" y="800000"/>
            <a:ext cx="11240000" cy="3878941"/>
          </a:xfrm>
          <a:prstGeom prst="rect">
            <a:avLst/>
          </a:prstGeom>
        </p:spPr>
      </p:pic>
      <p:sp>
        <p:nvSpPr>
          <p:cNvPr id="4" name="TextBox 3"/>
          <p:cNvSpPr txBox="1"/>
          <p:nvPr/>
        </p:nvSpPr>
        <p:spPr>
          <a:xfrm>
            <a:off x="475488" y="4720000"/>
            <a:ext cx="5500000" cy="1400000"/>
          </a:xfrm>
          <a:prstGeom prst="rect">
            <a:avLst/>
          </a:prstGeom>
          <a:noFill/>
        </p:spPr>
        <p:txBody>
          <a:bodyPr wrap="square">
            <a:spAutoFit/>
          </a:bodyPr>
          <a:lstStyle/>
          <a:p>
            <a:r>
              <a:rPr sz="1000" b="1" i="0">
                <a:solidFill>
                  <a:srgbClr val="1F2937"/>
                </a:solidFill>
              </a:rPr>
              <a:t>Confidence.</a:t>
            </a:r>
            <a:r>
              <a:rPr sz="1000" b="0" i="0">
                <a:solidFill>
                  <a:srgbClr val="1F2937"/>
                </a:solidFill>
              </a:rPr>
              <a:t> 25 bootstrap logistic models, isotonic-calibrated on a held-out split; [p_lo, p_hi] = 10th–90th percentile. Disagreement widens on unfamiliar actions, which is exactly when the system asks.</a:t>
            </a:r>
          </a:p>
          <a:p>
            <a:r>
              <a:rPr sz="1000" b="1" i="0">
                <a:solidFill>
                  <a:srgbClr val="1F2937"/>
                </a:solidFill>
              </a:rPr>
              <a:t>Failure handling.</a:t>
            </a:r>
            <a:r>
              <a:rPr sz="1000" b="0" i="0">
                <a:solidFill>
                  <a:srgbClr val="1F2937"/>
                </a:solidFill>
              </a:rPr>
              <a:t> LLM timeout → heuristic, never relaxation. Unknown tool → fail closed. Actual effect ≠ predicted → auto-rollback.</a:t>
            </a:r>
          </a:p>
        </p:txBody>
      </p:sp>
      <p:sp>
        <p:nvSpPr>
          <p:cNvPr id="5" name="TextBox 4"/>
          <p:cNvSpPr txBox="1"/>
          <p:nvPr/>
        </p:nvSpPr>
        <p:spPr>
          <a:xfrm>
            <a:off x="6200000" y="4720000"/>
            <a:ext cx="5500000" cy="1400000"/>
          </a:xfrm>
          <a:prstGeom prst="rect">
            <a:avLst/>
          </a:prstGeom>
          <a:noFill/>
        </p:spPr>
        <p:txBody>
          <a:bodyPr wrap="square">
            <a:spAutoFit/>
          </a:bodyPr>
          <a:lstStyle/>
          <a:p>
            <a:r>
              <a:rPr sz="1000" b="1" i="0">
                <a:solidFill>
                  <a:srgbClr val="1F2937"/>
                </a:solidFill>
              </a:rPr>
              <a:t>Human-in-the-loop.</a:t>
            </a:r>
            <a:r>
              <a:rPr sz="1000" b="0" i="0">
                <a:solidFill>
                  <a:srgbClr val="1F2937"/>
                </a:solidFill>
              </a:rPr>
              <a:t> Only escalated actions reach a reviewer, who sees a consequence card (diff, argument sources, reversibility, rule, p). Approve · approve-as-draft · deny. Timeout = deny. Four-eyes for irreversible high-harm actions.</a:t>
            </a:r>
          </a:p>
          <a:p>
            <a:r>
              <a:rPr sz="1000" b="0" i="0">
                <a:solidFill>
                  <a:srgbClr val="1F2937"/>
                </a:solidFill>
              </a:rPr>
              <a:t>Every human decision becomes a labelled example for recalibration.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56032"/>
            <a:ext cx="8869680" cy="420000"/>
          </a:xfrm>
          <a:prstGeom prst="rect">
            <a:avLst/>
          </a:prstGeom>
          <a:noFill/>
        </p:spPr>
        <p:txBody>
          <a:bodyPr wrap="square">
            <a:spAutoFit/>
          </a:bodyPr>
          <a:lstStyle/>
          <a:p>
            <a:r>
              <a:rPr sz="2400" b="0" i="0">
                <a:solidFill>
                  <a:srgbClr val="111827"/>
                </a:solidFill>
                <a:latin typeface="Aptos Display"/>
              </a:rPr>
              <a:t>Appendix C · Measured results</a:t>
            </a:r>
          </a:p>
        </p:txBody>
      </p:sp>
      <p:sp>
        <p:nvSpPr>
          <p:cNvPr id="3" name="TextBox 2"/>
          <p:cNvSpPr txBox="1"/>
          <p:nvPr/>
        </p:nvSpPr>
        <p:spPr>
          <a:xfrm>
            <a:off x="475488" y="680000"/>
            <a:ext cx="9300000" cy="260000"/>
          </a:xfrm>
          <a:prstGeom prst="rect">
            <a:avLst/>
          </a:prstGeom>
          <a:noFill/>
        </p:spPr>
        <p:txBody>
          <a:bodyPr wrap="square">
            <a:spAutoFit/>
          </a:bodyPr>
          <a:lstStyle/>
          <a:p>
            <a:r>
              <a:rPr sz="1050" b="0" i="0">
                <a:solidFill>
                  <a:srgbClr val="5B6573"/>
                </a:solidFill>
              </a:rPr>
              <a:t>740 labelled scenarios, 37 families, 5 seeds, held-out test split. Synthetic (AgentDojo / AmPermBench axes); not comparable with published numbers.</a:t>
            </a:r>
          </a:p>
        </p:txBody>
      </p:sp>
      <p:graphicFrame>
        <p:nvGraphicFramePr>
          <p:cNvPr id="4" name="Table 3"/>
          <p:cNvGraphicFramePr>
            <a:graphicFrameLocks noGrp="1"/>
          </p:cNvGraphicFramePr>
          <p:nvPr/>
        </p:nvGraphicFramePr>
        <p:xfrm>
          <a:off x="475488" y="1050000"/>
          <a:ext cx="6300000" cy="2340000"/>
        </p:xfrm>
        <a:graphic>
          <a:graphicData uri="http://schemas.openxmlformats.org/drawingml/2006/table">
            <a:tbl>
              <a:tblPr firstRow="1" bandRow="1">
                <a:tableStyleId>{5C22544A-7EE6-4342-B048-85BDC9FD1C3A}</a:tableStyleId>
              </a:tblPr>
              <a:tblGrid>
                <a:gridCol w="2150000"/>
                <a:gridCol w="1250000"/>
                <a:gridCol w="850000"/>
                <a:gridCol w="1300000"/>
                <a:gridCol w="750000"/>
              </a:tblGrid>
              <a:tr h="260000">
                <a:tc>
                  <a:txBody>
                    <a:bodyPr/>
                    <a:lstStyle/>
                    <a:p>
                      <a:r>
                        <a:rPr sz="850" b="1" i="0">
                          <a:solidFill>
                            <a:srgbClr val="FFFFFF"/>
                          </a:solidFill>
                        </a:rPr>
                        <a:t>System</a:t>
                      </a:r>
                    </a:p>
                  </a:txBody>
                  <a:tcPr marL="60000" marR="60000" marT="25000" marB="25000">
                    <a:solidFill>
                      <a:srgbClr val="007CC3"/>
                    </a:solidFill>
                  </a:tcPr>
                </a:tc>
                <a:tc>
                  <a:txBody>
                    <a:bodyPr/>
                    <a:lstStyle/>
                    <a:p>
                      <a:r>
                        <a:rPr sz="850" b="1" i="0">
                          <a:solidFill>
                            <a:srgbClr val="FFFFFF"/>
                          </a:solidFill>
                        </a:rPr>
                        <a:t>Unsafe auto-allowed ↓</a:t>
                      </a:r>
                    </a:p>
                  </a:txBody>
                  <a:tcPr marL="60000" marR="60000" marT="25000" marB="25000">
                    <a:solidFill>
                      <a:srgbClr val="007CC3"/>
                    </a:solidFill>
                  </a:tcPr>
                </a:tc>
                <a:tc>
                  <a:txBody>
                    <a:bodyPr/>
                    <a:lstStyle/>
                    <a:p>
                      <a:r>
                        <a:rPr sz="850" b="1" i="0">
                          <a:solidFill>
                            <a:srgbClr val="FFFFFF"/>
                          </a:solidFill>
                        </a:rPr>
                        <a:t>Injection ASR ↓</a:t>
                      </a:r>
                    </a:p>
                  </a:txBody>
                  <a:tcPr marL="60000" marR="60000" marT="25000" marB="25000">
                    <a:solidFill>
                      <a:srgbClr val="007CC3"/>
                    </a:solidFill>
                  </a:tcPr>
                </a:tc>
                <a:tc>
                  <a:txBody>
                    <a:bodyPr/>
                    <a:lstStyle/>
                    <a:p>
                      <a:r>
                        <a:rPr sz="850" b="1" i="0">
                          <a:solidFill>
                            <a:srgbClr val="FFFFFF"/>
                          </a:solidFill>
                        </a:rPr>
                        <a:t>Safe auto-completed ↑</a:t>
                      </a:r>
                    </a:p>
                  </a:txBody>
                  <a:tcPr marL="60000" marR="60000" marT="25000" marB="25000">
                    <a:solidFill>
                      <a:srgbClr val="007CC3"/>
                    </a:solidFill>
                  </a:tcPr>
                </a:tc>
                <a:tc>
                  <a:txBody>
                    <a:bodyPr/>
                    <a:lstStyle/>
                    <a:p>
                      <a:r>
                        <a:rPr sz="850" b="1" i="0">
                          <a:solidFill>
                            <a:srgbClr val="FFFFFF"/>
                          </a:solidFill>
                        </a:rPr>
                        <a:t>Escalation</a:t>
                      </a:r>
                    </a:p>
                  </a:txBody>
                  <a:tcPr marL="60000" marR="60000" marT="25000" marB="25000">
                    <a:solidFill>
                      <a:srgbClr val="007CC3"/>
                    </a:solidFill>
                  </a:tcPr>
                </a:tc>
              </a:tr>
              <a:tr h="260000">
                <a:tc>
                  <a:txBody>
                    <a:bodyPr/>
                    <a:lstStyle/>
                    <a:p>
                      <a:r>
                        <a:rPr sz="850" b="0" i="0">
                          <a:solidFill>
                            <a:srgbClr val="1F2937"/>
                          </a:solidFill>
                        </a:rPr>
                        <a:t>No guardrail</a:t>
                      </a:r>
                    </a:p>
                  </a:txBody>
                  <a:tcPr marL="60000" marR="60000" marT="25000" marB="25000">
                    <a:solidFill>
                      <a:srgbClr val="F5F7FA"/>
                    </a:solidFill>
                  </a:tcPr>
                </a:tc>
                <a:tc>
                  <a:txBody>
                    <a:bodyPr/>
                    <a:lstStyle/>
                    <a:p>
                      <a:r>
                        <a:rPr sz="850" b="0" i="0">
                          <a:solidFill>
                            <a:srgbClr val="1F2937"/>
                          </a:solidFill>
                        </a:rPr>
                        <a:t>100.0% (100%–100%)</a:t>
                      </a:r>
                    </a:p>
                  </a:txBody>
                  <a:tcPr marL="60000" marR="60000" marT="25000" marB="25000">
                    <a:solidFill>
                      <a:srgbClr val="F5F7FA"/>
                    </a:solidFill>
                  </a:tcPr>
                </a:tc>
                <a:tc>
                  <a:txBody>
                    <a:bodyPr/>
                    <a:lstStyle/>
                    <a:p>
                      <a:r>
                        <a:rPr sz="850" b="0" i="0">
                          <a:solidFill>
                            <a:srgbClr val="1F2937"/>
                          </a:solidFill>
                        </a:rPr>
                        <a:t>100.0%</a:t>
                      </a:r>
                    </a:p>
                  </a:txBody>
                  <a:tcPr marL="60000" marR="60000" marT="25000" marB="25000">
                    <a:solidFill>
                      <a:srgbClr val="F5F7FA"/>
                    </a:solidFill>
                  </a:tcPr>
                </a:tc>
                <a:tc>
                  <a:txBody>
                    <a:bodyPr/>
                    <a:lstStyle/>
                    <a:p>
                      <a:r>
                        <a:rPr sz="850" b="0" i="0">
                          <a:solidFill>
                            <a:srgbClr val="1F2937"/>
                          </a:solidFill>
                        </a:rPr>
                        <a:t>100.0% (100%–100%)</a:t>
                      </a:r>
                    </a:p>
                  </a:txBody>
                  <a:tcPr marL="60000" marR="60000" marT="25000" marB="25000">
                    <a:solidFill>
                      <a:srgbClr val="F5F7FA"/>
                    </a:solidFill>
                  </a:tcPr>
                </a:tc>
                <a:tc>
                  <a:txBody>
                    <a:bodyPr/>
                    <a:lstStyle/>
                    <a:p>
                      <a:r>
                        <a:rPr sz="850" b="0" i="0">
                          <a:solidFill>
                            <a:srgbClr val="1F2937"/>
                          </a:solidFill>
                        </a:rPr>
                        <a:t>0.0%</a:t>
                      </a:r>
                    </a:p>
                  </a:txBody>
                  <a:tcPr marL="60000" marR="60000" marT="25000" marB="25000">
                    <a:solidFill>
                      <a:srgbClr val="F5F7FA"/>
                    </a:solidFill>
                  </a:tcPr>
                </a:tc>
              </a:tr>
              <a:tr h="260000">
                <a:tc>
                  <a:txBody>
                    <a:bodyPr/>
                    <a:lstStyle/>
                    <a:p>
                      <a:r>
                        <a:rPr sz="850" b="0" i="0">
                          <a:solidFill>
                            <a:srgbClr val="1F2937"/>
                          </a:solidFill>
                        </a:rPr>
                        <a:t>Static denylist (text match)</a:t>
                      </a:r>
                    </a:p>
                  </a:txBody>
                  <a:tcPr marL="60000" marR="60000" marT="25000" marB="25000">
                    <a:solidFill>
                      <a:srgbClr val="FFFFFF"/>
                    </a:solidFill>
                  </a:tcPr>
                </a:tc>
                <a:tc>
                  <a:txBody>
                    <a:bodyPr/>
                    <a:lstStyle/>
                    <a:p>
                      <a:r>
                        <a:rPr sz="850" b="0" i="0">
                          <a:solidFill>
                            <a:srgbClr val="1F2937"/>
                          </a:solidFill>
                        </a:rPr>
                        <a:t>83.7% (82%–85%)</a:t>
                      </a:r>
                    </a:p>
                  </a:txBody>
                  <a:tcPr marL="60000" marR="60000" marT="25000" marB="25000">
                    <a:solidFill>
                      <a:srgbClr val="FFFFFF"/>
                    </a:solidFill>
                  </a:tcPr>
                </a:tc>
                <a:tc>
                  <a:txBody>
                    <a:bodyPr/>
                    <a:lstStyle/>
                    <a:p>
                      <a:r>
                        <a:rPr sz="850" b="0" i="0">
                          <a:solidFill>
                            <a:srgbClr val="1F2937"/>
                          </a:solidFill>
                        </a:rPr>
                        <a:t>100.0%</a:t>
                      </a:r>
                    </a:p>
                  </a:txBody>
                  <a:tcPr marL="60000" marR="60000" marT="25000" marB="25000">
                    <a:solidFill>
                      <a:srgbClr val="FFFFFF"/>
                    </a:solidFill>
                  </a:tcPr>
                </a:tc>
                <a:tc>
                  <a:txBody>
                    <a:bodyPr/>
                    <a:lstStyle/>
                    <a:p>
                      <a:r>
                        <a:rPr sz="850" b="0" i="0">
                          <a:solidFill>
                            <a:srgbClr val="1F2937"/>
                          </a:solidFill>
                        </a:rPr>
                        <a:t>100.0% (100%–100%)</a:t>
                      </a:r>
                    </a:p>
                  </a:txBody>
                  <a:tcPr marL="60000" marR="60000" marT="25000" marB="25000">
                    <a:solidFill>
                      <a:srgbClr val="FFFFFF"/>
                    </a:solidFill>
                  </a:tcPr>
                </a:tc>
                <a:tc>
                  <a:txBody>
                    <a:bodyPr/>
                    <a:lstStyle/>
                    <a:p>
                      <a:r>
                        <a:rPr sz="850" b="0" i="0">
                          <a:solidFill>
                            <a:srgbClr val="1F2937"/>
                          </a:solidFill>
                        </a:rPr>
                        <a:t>0.0%</a:t>
                      </a:r>
                    </a:p>
                  </a:txBody>
                  <a:tcPr marL="60000" marR="60000" marT="25000" marB="25000">
                    <a:solidFill>
                      <a:srgbClr val="FFFFFF"/>
                    </a:solidFill>
                  </a:tcPr>
                </a:tc>
              </a:tr>
              <a:tr h="260000">
                <a:tc>
                  <a:txBody>
                    <a:bodyPr/>
                    <a:lstStyle/>
                    <a:p>
                      <a:r>
                        <a:rPr sz="850" b="0" i="0">
                          <a:solidFill>
                            <a:srgbClr val="1F2937"/>
                          </a:solidFill>
                        </a:rPr>
                        <a:t>Tool-type gating</a:t>
                      </a:r>
                    </a:p>
                  </a:txBody>
                  <a:tcPr marL="60000" marR="60000" marT="25000" marB="25000">
                    <a:solidFill>
                      <a:srgbClr val="F5F7FA"/>
                    </a:solidFill>
                  </a:tcPr>
                </a:tc>
                <a:tc>
                  <a:txBody>
                    <a:bodyPr/>
                    <a:lstStyle/>
                    <a:p>
                      <a:r>
                        <a:rPr sz="850" b="0" i="0">
                          <a:solidFill>
                            <a:srgbClr val="1F2937"/>
                          </a:solidFill>
                        </a:rPr>
                        <a:t>40.0% (40%–40%)</a:t>
                      </a:r>
                    </a:p>
                  </a:txBody>
                  <a:tcPr marL="60000" marR="60000" marT="25000" marB="25000">
                    <a:solidFill>
                      <a:srgbClr val="F5F7FA"/>
                    </a:solidFill>
                  </a:tcPr>
                </a:tc>
                <a:tc>
                  <a:txBody>
                    <a:bodyPr/>
                    <a:lstStyle/>
                    <a:p>
                      <a:r>
                        <a:rPr sz="850" b="0" i="0">
                          <a:solidFill>
                            <a:srgbClr val="1F2937"/>
                          </a:solidFill>
                        </a:rPr>
                        <a:t>16.7%</a:t>
                      </a:r>
                    </a:p>
                  </a:txBody>
                  <a:tcPr marL="60000" marR="60000" marT="25000" marB="25000">
                    <a:solidFill>
                      <a:srgbClr val="F5F7FA"/>
                    </a:solidFill>
                  </a:tcPr>
                </a:tc>
                <a:tc>
                  <a:txBody>
                    <a:bodyPr/>
                    <a:lstStyle/>
                    <a:p>
                      <a:r>
                        <a:rPr sz="850" b="0" i="0">
                          <a:solidFill>
                            <a:srgbClr val="1F2937"/>
                          </a:solidFill>
                        </a:rPr>
                        <a:t>47.1% (47%–47%)</a:t>
                      </a:r>
                    </a:p>
                  </a:txBody>
                  <a:tcPr marL="60000" marR="60000" marT="25000" marB="25000">
                    <a:solidFill>
                      <a:srgbClr val="F5F7FA"/>
                    </a:solidFill>
                  </a:tcPr>
                </a:tc>
                <a:tc>
                  <a:txBody>
                    <a:bodyPr/>
                    <a:lstStyle/>
                    <a:p>
                      <a:r>
                        <a:rPr sz="850" b="0" i="0">
                          <a:solidFill>
                            <a:srgbClr val="1F2937"/>
                          </a:solidFill>
                        </a:rPr>
                        <a:t>56.8%</a:t>
                      </a:r>
                    </a:p>
                  </a:txBody>
                  <a:tcPr marL="60000" marR="60000" marT="25000" marB="25000">
                    <a:solidFill>
                      <a:srgbClr val="F5F7FA"/>
                    </a:solidFill>
                  </a:tcPr>
                </a:tc>
              </a:tr>
              <a:tr h="260000">
                <a:tc>
                  <a:txBody>
                    <a:bodyPr/>
                    <a:lstStyle/>
                    <a:p>
                      <a:r>
                        <a:rPr sz="850" b="0" i="0">
                          <a:solidFill>
                            <a:srgbClr val="1F2937"/>
                          </a:solidFill>
                        </a:rPr>
                        <a:t>Approve every write (manual interrupt)</a:t>
                      </a:r>
                    </a:p>
                  </a:txBody>
                  <a:tcPr marL="60000" marR="60000" marT="25000" marB="25000">
                    <a:solidFill>
                      <a:srgbClr val="FFFFFF"/>
                    </a:solidFill>
                  </a:tcPr>
                </a:tc>
                <a:tc>
                  <a:txBody>
                    <a:bodyPr/>
                    <a:lstStyle/>
                    <a:p>
                      <a:r>
                        <a:rPr sz="850" b="0" i="0">
                          <a:solidFill>
                            <a:srgbClr val="1F2937"/>
                          </a:solidFill>
                        </a:rPr>
                        <a:t>5.0% (5%–5%)</a:t>
                      </a:r>
                    </a:p>
                  </a:txBody>
                  <a:tcPr marL="60000" marR="60000" marT="25000" marB="25000">
                    <a:solidFill>
                      <a:srgbClr val="FFFFFF"/>
                    </a:solidFill>
                  </a:tcPr>
                </a:tc>
                <a:tc>
                  <a:txBody>
                    <a:bodyPr/>
                    <a:lstStyle/>
                    <a:p>
                      <a:r>
                        <a:rPr sz="850" b="0" i="0">
                          <a:solidFill>
                            <a:srgbClr val="1F2937"/>
                          </a:solidFill>
                        </a:rPr>
                        <a:t>0.0%</a:t>
                      </a:r>
                    </a:p>
                  </a:txBody>
                  <a:tcPr marL="60000" marR="60000" marT="25000" marB="25000">
                    <a:solidFill>
                      <a:srgbClr val="FFFFFF"/>
                    </a:solidFill>
                  </a:tcPr>
                </a:tc>
                <a:tc>
                  <a:txBody>
                    <a:bodyPr/>
                    <a:lstStyle/>
                    <a:p>
                      <a:r>
                        <a:rPr sz="850" b="0" i="0">
                          <a:solidFill>
                            <a:srgbClr val="1F2937"/>
                          </a:solidFill>
                        </a:rPr>
                        <a:t>11.8% (12%–12%)</a:t>
                      </a:r>
                    </a:p>
                  </a:txBody>
                  <a:tcPr marL="60000" marR="60000" marT="25000" marB="25000">
                    <a:solidFill>
                      <a:srgbClr val="FFFFFF"/>
                    </a:solidFill>
                  </a:tcPr>
                </a:tc>
                <a:tc>
                  <a:txBody>
                    <a:bodyPr/>
                    <a:lstStyle/>
                    <a:p>
                      <a:r>
                        <a:rPr sz="850" b="0" i="0">
                          <a:solidFill>
                            <a:srgbClr val="1F2937"/>
                          </a:solidFill>
                        </a:rPr>
                        <a:t>91.9%</a:t>
                      </a:r>
                    </a:p>
                  </a:txBody>
                  <a:tcPr marL="60000" marR="60000" marT="25000" marB="25000">
                    <a:solidFill>
                      <a:srgbClr val="FFFFFF"/>
                    </a:solidFill>
                  </a:tcPr>
                </a:tc>
              </a:tr>
              <a:tr h="260000">
                <a:tc>
                  <a:txBody>
                    <a:bodyPr/>
                    <a:lstStyle/>
                    <a:p>
                      <a:r>
                        <a:rPr sz="850" b="0" i="0">
                          <a:solidFill>
                            <a:srgbClr val="1F2937"/>
                          </a:solidFill>
                        </a:rPr>
                        <a:t>KAVACH: rules only</a:t>
                      </a:r>
                    </a:p>
                  </a:txBody>
                  <a:tcPr marL="60000" marR="60000" marT="25000" marB="25000">
                    <a:solidFill>
                      <a:srgbClr val="F5F7FA"/>
                    </a:solidFill>
                  </a:tcPr>
                </a:tc>
                <a:tc>
                  <a:txBody>
                    <a:bodyPr/>
                    <a:lstStyle/>
                    <a:p>
                      <a:r>
                        <a:rPr sz="850" b="0" i="0">
                          <a:solidFill>
                            <a:srgbClr val="1F2937"/>
                          </a:solidFill>
                        </a:rPr>
                        <a:t>30.0% (30%–30%)</a:t>
                      </a:r>
                    </a:p>
                  </a:txBody>
                  <a:tcPr marL="60000" marR="60000" marT="25000" marB="25000">
                    <a:solidFill>
                      <a:srgbClr val="F5F7FA"/>
                    </a:solidFill>
                  </a:tcPr>
                </a:tc>
                <a:tc>
                  <a:txBody>
                    <a:bodyPr/>
                    <a:lstStyle/>
                    <a:p>
                      <a:r>
                        <a:rPr sz="850" b="0" i="0">
                          <a:solidFill>
                            <a:srgbClr val="1F2937"/>
                          </a:solidFill>
                        </a:rPr>
                        <a:t>0.0%</a:t>
                      </a:r>
                    </a:p>
                  </a:txBody>
                  <a:tcPr marL="60000" marR="60000" marT="25000" marB="25000">
                    <a:solidFill>
                      <a:srgbClr val="F5F7FA"/>
                    </a:solidFill>
                  </a:tcPr>
                </a:tc>
                <a:tc>
                  <a:txBody>
                    <a:bodyPr/>
                    <a:lstStyle/>
                    <a:p>
                      <a:r>
                        <a:rPr sz="850" b="0" i="0">
                          <a:solidFill>
                            <a:srgbClr val="1F2937"/>
                          </a:solidFill>
                        </a:rPr>
                        <a:t>94.1% (94%–94%)</a:t>
                      </a:r>
                    </a:p>
                  </a:txBody>
                  <a:tcPr marL="60000" marR="60000" marT="25000" marB="25000">
                    <a:solidFill>
                      <a:srgbClr val="F5F7FA"/>
                    </a:solidFill>
                  </a:tcPr>
                </a:tc>
                <a:tc>
                  <a:txBody>
                    <a:bodyPr/>
                    <a:lstStyle/>
                    <a:p>
                      <a:r>
                        <a:rPr sz="850" b="0" i="0">
                          <a:solidFill>
                            <a:srgbClr val="1F2937"/>
                          </a:solidFill>
                        </a:rPr>
                        <a:t>8.1%</a:t>
                      </a:r>
                    </a:p>
                  </a:txBody>
                  <a:tcPr marL="60000" marR="60000" marT="25000" marB="25000">
                    <a:solidFill>
                      <a:srgbClr val="F5F7FA"/>
                    </a:solidFill>
                  </a:tcPr>
                </a:tc>
              </a:tr>
              <a:tr h="260000">
                <a:tc>
                  <a:txBody>
                    <a:bodyPr/>
                    <a:lstStyle/>
                    <a:p>
                      <a:r>
                        <a:rPr sz="850" b="0" i="0">
                          <a:solidFill>
                            <a:srgbClr val="1F2937"/>
                          </a:solidFill>
                        </a:rPr>
                        <a:t>KAVACH: no provenance</a:t>
                      </a:r>
                    </a:p>
                  </a:txBody>
                  <a:tcPr marL="60000" marR="60000" marT="25000" marB="25000">
                    <a:solidFill>
                      <a:srgbClr val="FFFFFF"/>
                    </a:solidFill>
                  </a:tcPr>
                </a:tc>
                <a:tc>
                  <a:txBody>
                    <a:bodyPr/>
                    <a:lstStyle/>
                    <a:p>
                      <a:r>
                        <a:rPr sz="850" b="0" i="0">
                          <a:solidFill>
                            <a:srgbClr val="1F2937"/>
                          </a:solidFill>
                        </a:rPr>
                        <a:t>0.5% (0%–2%)</a:t>
                      </a:r>
                    </a:p>
                  </a:txBody>
                  <a:tcPr marL="60000" marR="60000" marT="25000" marB="25000">
                    <a:solidFill>
                      <a:srgbClr val="FFFFFF"/>
                    </a:solidFill>
                  </a:tcPr>
                </a:tc>
                <a:tc>
                  <a:txBody>
                    <a:bodyPr/>
                    <a:lstStyle/>
                    <a:p>
                      <a:r>
                        <a:rPr sz="850" b="0" i="0">
                          <a:solidFill>
                            <a:srgbClr val="1F2937"/>
                          </a:solidFill>
                        </a:rPr>
                        <a:t>0.0%</a:t>
                      </a:r>
                    </a:p>
                  </a:txBody>
                  <a:tcPr marL="60000" marR="60000" marT="25000" marB="25000">
                    <a:solidFill>
                      <a:srgbClr val="FFFFFF"/>
                    </a:solidFill>
                  </a:tcPr>
                </a:tc>
                <a:tc>
                  <a:txBody>
                    <a:bodyPr/>
                    <a:lstStyle/>
                    <a:p>
                      <a:r>
                        <a:rPr sz="850" b="0" i="0">
                          <a:solidFill>
                            <a:srgbClr val="1F2937"/>
                          </a:solidFill>
                        </a:rPr>
                        <a:t>48.2% (41%–53%)</a:t>
                      </a:r>
                    </a:p>
                  </a:txBody>
                  <a:tcPr marL="60000" marR="60000" marT="25000" marB="25000">
                    <a:solidFill>
                      <a:srgbClr val="FFFFFF"/>
                    </a:solidFill>
                  </a:tcPr>
                </a:tc>
                <a:tc>
                  <a:txBody>
                    <a:bodyPr/>
                    <a:lstStyle/>
                    <a:p>
                      <a:r>
                        <a:rPr sz="850" b="0" i="0">
                          <a:solidFill>
                            <a:srgbClr val="1F2937"/>
                          </a:solidFill>
                        </a:rPr>
                        <a:t>60.4%</a:t>
                      </a:r>
                    </a:p>
                  </a:txBody>
                  <a:tcPr marL="60000" marR="60000" marT="25000" marB="25000">
                    <a:solidFill>
                      <a:srgbClr val="FFFFFF"/>
                    </a:solidFill>
                  </a:tcPr>
                </a:tc>
              </a:tr>
              <a:tr h="260000">
                <a:tc>
                  <a:txBody>
                    <a:bodyPr/>
                    <a:lstStyle/>
                    <a:p>
                      <a:r>
                        <a:rPr sz="850" b="0" i="0">
                          <a:solidFill>
                            <a:srgbClr val="1F2937"/>
                          </a:solidFill>
                        </a:rPr>
                        <a:t>KAVACH: fixed threshold</a:t>
                      </a:r>
                    </a:p>
                  </a:txBody>
                  <a:tcPr marL="60000" marR="60000" marT="25000" marB="25000">
                    <a:solidFill>
                      <a:srgbClr val="F5F7FA"/>
                    </a:solidFill>
                  </a:tcPr>
                </a:tc>
                <a:tc>
                  <a:txBody>
                    <a:bodyPr/>
                    <a:lstStyle/>
                    <a:p>
                      <a:r>
                        <a:rPr sz="850" b="0" i="0">
                          <a:solidFill>
                            <a:srgbClr val="1F2937"/>
                          </a:solidFill>
                        </a:rPr>
                        <a:t>0.5% (0%–2%)</a:t>
                      </a:r>
                    </a:p>
                  </a:txBody>
                  <a:tcPr marL="60000" marR="60000" marT="25000" marB="25000">
                    <a:solidFill>
                      <a:srgbClr val="F5F7FA"/>
                    </a:solidFill>
                  </a:tcPr>
                </a:tc>
                <a:tc>
                  <a:txBody>
                    <a:bodyPr/>
                    <a:lstStyle/>
                    <a:p>
                      <a:r>
                        <a:rPr sz="850" b="0" i="0">
                          <a:solidFill>
                            <a:srgbClr val="1F2937"/>
                          </a:solidFill>
                        </a:rPr>
                        <a:t>0.0%</a:t>
                      </a:r>
                    </a:p>
                  </a:txBody>
                  <a:tcPr marL="60000" marR="60000" marT="25000" marB="25000">
                    <a:solidFill>
                      <a:srgbClr val="F5F7FA"/>
                    </a:solidFill>
                  </a:tcPr>
                </a:tc>
                <a:tc>
                  <a:txBody>
                    <a:bodyPr/>
                    <a:lstStyle/>
                    <a:p>
                      <a:r>
                        <a:rPr sz="850" b="0" i="0">
                          <a:solidFill>
                            <a:srgbClr val="1F2937"/>
                          </a:solidFill>
                        </a:rPr>
                        <a:t>69.4% (66%–72%)</a:t>
                      </a:r>
                    </a:p>
                  </a:txBody>
                  <a:tcPr marL="60000" marR="60000" marT="25000" marB="25000">
                    <a:solidFill>
                      <a:srgbClr val="F5F7FA"/>
                    </a:solidFill>
                  </a:tcPr>
                </a:tc>
                <a:tc>
                  <a:txBody>
                    <a:bodyPr/>
                    <a:lstStyle/>
                    <a:p>
                      <a:r>
                        <a:rPr sz="850" b="0" i="0">
                          <a:solidFill>
                            <a:srgbClr val="1F2937"/>
                          </a:solidFill>
                        </a:rPr>
                        <a:t>35.4%</a:t>
                      </a:r>
                    </a:p>
                  </a:txBody>
                  <a:tcPr marL="60000" marR="60000" marT="25000" marB="25000">
                    <a:solidFill>
                      <a:srgbClr val="F5F7FA"/>
                    </a:solidFill>
                  </a:tcPr>
                </a:tc>
              </a:tr>
              <a:tr h="260000">
                <a:tc>
                  <a:txBody>
                    <a:bodyPr/>
                    <a:lstStyle/>
                    <a:p>
                      <a:r>
                        <a:rPr sz="850" b="0" i="0">
                          <a:solidFill>
                            <a:srgbClr val="1F2937"/>
                          </a:solidFill>
                        </a:rPr>
                        <a:t>KAVACH (full)</a:t>
                      </a:r>
                    </a:p>
                  </a:txBody>
                  <a:tcPr marL="60000" marR="60000" marT="25000" marB="25000">
                    <a:solidFill>
                      <a:srgbClr val="FFFFFF"/>
                    </a:solidFill>
                  </a:tcPr>
                </a:tc>
                <a:tc>
                  <a:txBody>
                    <a:bodyPr/>
                    <a:lstStyle/>
                    <a:p>
                      <a:r>
                        <a:rPr sz="850" b="0" i="0">
                          <a:solidFill>
                            <a:srgbClr val="1F2937"/>
                          </a:solidFill>
                        </a:rPr>
                        <a:t>0.5% (0%–2%)</a:t>
                      </a:r>
                    </a:p>
                  </a:txBody>
                  <a:tcPr marL="60000" marR="60000" marT="25000" marB="25000">
                    <a:solidFill>
                      <a:srgbClr val="FFFFFF"/>
                    </a:solidFill>
                  </a:tcPr>
                </a:tc>
                <a:tc>
                  <a:txBody>
                    <a:bodyPr/>
                    <a:lstStyle/>
                    <a:p>
                      <a:r>
                        <a:rPr sz="850" b="0" i="0">
                          <a:solidFill>
                            <a:srgbClr val="1F2937"/>
                          </a:solidFill>
                        </a:rPr>
                        <a:t>0.0%</a:t>
                      </a:r>
                    </a:p>
                  </a:txBody>
                  <a:tcPr marL="60000" marR="60000" marT="25000" marB="25000">
                    <a:solidFill>
                      <a:srgbClr val="FFFFFF"/>
                    </a:solidFill>
                  </a:tcPr>
                </a:tc>
                <a:tc>
                  <a:txBody>
                    <a:bodyPr/>
                    <a:lstStyle/>
                    <a:p>
                      <a:r>
                        <a:rPr sz="850" b="0" i="0">
                          <a:solidFill>
                            <a:srgbClr val="1F2937"/>
                          </a:solidFill>
                        </a:rPr>
                        <a:t>68.4% (65%–71%)</a:t>
                      </a:r>
                    </a:p>
                  </a:txBody>
                  <a:tcPr marL="60000" marR="60000" marT="25000" marB="25000">
                    <a:solidFill>
                      <a:srgbClr val="FFFFFF"/>
                    </a:solidFill>
                  </a:tcPr>
                </a:tc>
                <a:tc>
                  <a:txBody>
                    <a:bodyPr/>
                    <a:lstStyle/>
                    <a:p>
                      <a:r>
                        <a:rPr sz="850" b="0" i="0">
                          <a:solidFill>
                            <a:srgbClr val="1F2937"/>
                          </a:solidFill>
                        </a:rPr>
                        <a:t>35.9%</a:t>
                      </a:r>
                    </a:p>
                  </a:txBody>
                  <a:tcPr marL="60000" marR="60000" marT="25000" marB="25000">
                    <a:solidFill>
                      <a:srgbClr val="FFFFFF"/>
                    </a:solidFill>
                  </a:tcPr>
                </a:tc>
              </a:tr>
            </a:tbl>
          </a:graphicData>
        </a:graphic>
      </p:graphicFrame>
      <p:pic>
        <p:nvPicPr>
          <p:cNvPr id="5" name="Picture 4" descr="pareto.png"/>
          <p:cNvPicPr>
            <a:picLocks noChangeAspect="1"/>
          </p:cNvPicPr>
          <p:nvPr/>
        </p:nvPicPr>
        <p:blipFill>
          <a:blip r:embed="rId2"/>
          <a:stretch>
            <a:fillRect/>
          </a:stretch>
        </p:blipFill>
        <p:spPr>
          <a:xfrm>
            <a:off x="6950000" y="1050000"/>
            <a:ext cx="4750000" cy="3117188"/>
          </a:xfrm>
          <a:prstGeom prst="rect">
            <a:avLst/>
          </a:prstGeom>
        </p:spPr>
      </p:pic>
      <p:sp>
        <p:nvSpPr>
          <p:cNvPr id="6" name="TextBox 5"/>
          <p:cNvSpPr txBox="1"/>
          <p:nvPr/>
        </p:nvSpPr>
        <p:spPr>
          <a:xfrm>
            <a:off x="475488" y="4250000"/>
            <a:ext cx="6300000" cy="1700000"/>
          </a:xfrm>
          <a:prstGeom prst="rect">
            <a:avLst/>
          </a:prstGeom>
          <a:noFill/>
        </p:spPr>
        <p:txBody>
          <a:bodyPr wrap="square">
            <a:spAutoFit/>
          </a:bodyPr>
          <a:lstStyle/>
          <a:p>
            <a:r>
              <a:rPr sz="950" b="1" i="0">
                <a:solidFill>
                  <a:srgbClr val="1F2937"/>
                </a:solidFill>
              </a:rPr>
              <a:t>Read it this way.</a:t>
            </a:r>
            <a:r>
              <a:rPr sz="950" b="0" i="0">
                <a:solidFill>
                  <a:srgbClr val="1F2937"/>
                </a:solidFill>
              </a:rPr>
              <a:t> Rules alone let through ~30% of unsafe actions (overeager scoped deletes, wrong recipients, invented amounts). Approving every write is safe but automates only 12% of safe work.</a:t>
            </a:r>
          </a:p>
          <a:p>
            <a:r>
              <a:rPr sz="950" b="1" i="0">
                <a:solidFill>
                  <a:srgbClr val="1F2937"/>
                </a:solidFill>
              </a:rPr>
              <a:t>Honest finding:</a:t>
            </a:r>
            <a:r>
              <a:rPr sz="950" b="0" i="0">
                <a:solidFill>
                  <a:srgbClr val="1F2937"/>
                </a:solidFill>
              </a:rPr>
              <a:t> on this suite the reversibility-conditioned threshold matches a well-tuned fixed threshold; its value is a cost-unit operating point that adapts strictness per action. Calibration ECE 0.13 → 0.03; decision latency p50 0.8 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56032"/>
            <a:ext cx="8869680" cy="420000"/>
          </a:xfrm>
          <a:prstGeom prst="rect">
            <a:avLst/>
          </a:prstGeom>
          <a:noFill/>
        </p:spPr>
        <p:txBody>
          <a:bodyPr wrap="square">
            <a:spAutoFit/>
          </a:bodyPr>
          <a:lstStyle/>
          <a:p>
            <a:r>
              <a:rPr sz="2400" b="0" i="0">
                <a:solidFill>
                  <a:srgbClr val="111827"/>
                </a:solidFill>
                <a:latin typeface="Aptos Display"/>
              </a:rPr>
              <a:t>Appendix D · Today’s guardrails vs KAVACH</a:t>
            </a:r>
          </a:p>
        </p:txBody>
      </p:sp>
      <p:sp>
        <p:nvSpPr>
          <p:cNvPr id="3" name="TextBox 2"/>
          <p:cNvSpPr txBox="1"/>
          <p:nvPr/>
        </p:nvSpPr>
        <p:spPr>
          <a:xfrm>
            <a:off x="475488" y="680000"/>
            <a:ext cx="9300000" cy="260000"/>
          </a:xfrm>
          <a:prstGeom prst="rect">
            <a:avLst/>
          </a:prstGeom>
          <a:noFill/>
        </p:spPr>
        <p:txBody>
          <a:bodyPr wrap="square">
            <a:spAutoFit/>
          </a:bodyPr>
          <a:lstStyle/>
          <a:p>
            <a:r>
              <a:rPr sz="1050" b="0" i="0">
                <a:solidFill>
                  <a:srgbClr val="5B6573"/>
                </a:solidFill>
              </a:rPr>
              <a:t>How guardrails work today and where they fall short. Verified against papers, docs and repos (Oct 2026).</a:t>
            </a:r>
          </a:p>
        </p:txBody>
      </p:sp>
      <p:graphicFrame>
        <p:nvGraphicFramePr>
          <p:cNvPr id="4" name="Table 3"/>
          <p:cNvGraphicFramePr>
            <a:graphicFrameLocks noGrp="1"/>
          </p:cNvGraphicFramePr>
          <p:nvPr/>
        </p:nvGraphicFramePr>
        <p:xfrm>
          <a:off x="475488" y="1000000"/>
          <a:ext cx="11240000" cy="3960000"/>
        </p:xfrm>
        <a:graphic>
          <a:graphicData uri="http://schemas.openxmlformats.org/drawingml/2006/table">
            <a:tbl>
              <a:tblPr firstRow="1" bandRow="1">
                <a:tableStyleId>{5C22544A-7EE6-4342-B048-85BDC9FD1C3A}</a:tableStyleId>
              </a:tblPr>
              <a:tblGrid>
                <a:gridCol w="2100000"/>
                <a:gridCol w="3900000"/>
                <a:gridCol w="5240000"/>
              </a:tblGrid>
              <a:tr h="330000">
                <a:tc>
                  <a:txBody>
                    <a:bodyPr/>
                    <a:lstStyle/>
                    <a:p>
                      <a:r>
                        <a:rPr sz="850" b="1" i="0">
                          <a:solidFill>
                            <a:srgbClr val="FFFFFF"/>
                          </a:solidFill>
                        </a:rPr>
                        <a:t>System</a:t>
                      </a:r>
                    </a:p>
                  </a:txBody>
                  <a:tcPr marL="60000" marR="60000" marT="25000" marB="25000">
                    <a:solidFill>
                      <a:srgbClr val="007CC3"/>
                    </a:solidFill>
                  </a:tcPr>
                </a:tc>
                <a:tc>
                  <a:txBody>
                    <a:bodyPr/>
                    <a:lstStyle/>
                    <a:p>
                      <a:r>
                        <a:rPr sz="850" b="1" i="0">
                          <a:solidFill>
                            <a:srgbClr val="FFFFFF"/>
                          </a:solidFill>
                        </a:rPr>
                        <a:t>Approach</a:t>
                      </a:r>
                    </a:p>
                  </a:txBody>
                  <a:tcPr marL="60000" marR="60000" marT="25000" marB="25000">
                    <a:solidFill>
                      <a:srgbClr val="007CC3"/>
                    </a:solidFill>
                  </a:tcPr>
                </a:tc>
                <a:tc>
                  <a:txBody>
                    <a:bodyPr/>
                    <a:lstStyle/>
                    <a:p>
                      <a:r>
                        <a:rPr sz="850" b="1" i="0">
                          <a:solidFill>
                            <a:srgbClr val="FFFFFF"/>
                          </a:solidFill>
                        </a:rPr>
                        <a:t>Published result / limit</a:t>
                      </a:r>
                    </a:p>
                  </a:txBody>
                  <a:tcPr marL="60000" marR="60000" marT="25000" marB="25000">
                    <a:solidFill>
                      <a:srgbClr val="007CC3"/>
                    </a:solidFill>
                  </a:tcPr>
                </a:tc>
              </a:tr>
              <a:tr h="330000">
                <a:tc>
                  <a:txBody>
                    <a:bodyPr/>
                    <a:lstStyle/>
                    <a:p>
                      <a:r>
                        <a:rPr sz="850" b="0" i="0">
                          <a:solidFill>
                            <a:srgbClr val="1F2937"/>
                          </a:solidFill>
                        </a:rPr>
                        <a:t>Claude Code auto mode</a:t>
                      </a:r>
                    </a:p>
                  </a:txBody>
                  <a:tcPr marL="60000" marR="60000" marT="25000" marB="25000">
                    <a:solidFill>
                      <a:srgbClr val="F5F7FA"/>
                    </a:solidFill>
                  </a:tcPr>
                </a:tc>
                <a:tc>
                  <a:txBody>
                    <a:bodyPr/>
                    <a:lstStyle/>
                    <a:p>
                      <a:r>
                        <a:rPr sz="850" b="0" i="0">
                          <a:solidFill>
                            <a:srgbClr val="1F2937"/>
                          </a:solidFill>
                        </a:rPr>
                        <a:t>Tool-tier rules + reasoning-blind 2-stage classifier</a:t>
                      </a:r>
                    </a:p>
                  </a:txBody>
                  <a:tcPr marL="60000" marR="60000" marT="25000" marB="25000">
                    <a:solidFill>
                      <a:srgbClr val="F5F7FA"/>
                    </a:solidFill>
                  </a:tcPr>
                </a:tc>
                <a:tc>
                  <a:txBody>
                    <a:bodyPr/>
                    <a:lstStyle/>
                    <a:p>
                      <a:r>
                        <a:rPr sz="850" b="0" i="0">
                          <a:solidFill>
                            <a:srgbClr val="1F2937"/>
                          </a:solidFill>
                        </a:rPr>
                        <a:t>0.4% FPR, 17% FNR (overeager); AmPermBench: 81% FNR, 36.8% of state changes bypass the classifier</a:t>
                      </a:r>
                    </a:p>
                  </a:txBody>
                  <a:tcPr marL="60000" marR="60000" marT="25000" marB="25000">
                    <a:solidFill>
                      <a:srgbClr val="F5F7FA"/>
                    </a:solidFill>
                  </a:tcPr>
                </a:tc>
              </a:tr>
              <a:tr h="330000">
                <a:tc>
                  <a:txBody>
                    <a:bodyPr/>
                    <a:lstStyle/>
                    <a:p>
                      <a:r>
                        <a:rPr sz="850" b="0" i="0">
                          <a:solidFill>
                            <a:srgbClr val="1F2937"/>
                          </a:solidFill>
                        </a:rPr>
                        <a:t>OpenAI Codex CLI</a:t>
                      </a:r>
                    </a:p>
                  </a:txBody>
                  <a:tcPr marL="60000" marR="60000" marT="25000" marB="25000">
                    <a:solidFill>
                      <a:srgbClr val="FFFFFF"/>
                    </a:solidFill>
                  </a:tcPr>
                </a:tc>
                <a:tc>
                  <a:txBody>
                    <a:bodyPr/>
                    <a:lstStyle/>
                    <a:p>
                      <a:r>
                        <a:rPr sz="850" b="0" i="0">
                          <a:solidFill>
                            <a:srgbClr val="1F2937"/>
                          </a:solidFill>
                        </a:rPr>
                        <a:t>Kernel sandbox, network off, approval policies</a:t>
                      </a:r>
                    </a:p>
                  </a:txBody>
                  <a:tcPr marL="60000" marR="60000" marT="25000" marB="25000">
                    <a:solidFill>
                      <a:srgbClr val="FFFFFF"/>
                    </a:solidFill>
                  </a:tcPr>
                </a:tc>
                <a:tc>
                  <a:txBody>
                    <a:bodyPr/>
                    <a:lstStyle/>
                    <a:p>
                      <a:r>
                        <a:rPr sz="850" b="0" i="0">
                          <a:solidFill>
                            <a:srgbClr val="1F2937"/>
                          </a:solidFill>
                        </a:rPr>
                        <a:t>Controls where, not what: destructive actions inside the workspace pass</a:t>
                      </a:r>
                    </a:p>
                  </a:txBody>
                  <a:tcPr marL="60000" marR="60000" marT="25000" marB="25000">
                    <a:solidFill>
                      <a:srgbClr val="FFFFFF"/>
                    </a:solidFill>
                  </a:tcPr>
                </a:tc>
              </a:tr>
              <a:tr h="330000">
                <a:tc>
                  <a:txBody>
                    <a:bodyPr/>
                    <a:lstStyle/>
                    <a:p>
                      <a:r>
                        <a:rPr sz="850" b="0" i="0">
                          <a:solidFill>
                            <a:srgbClr val="1F2937"/>
                          </a:solidFill>
                        </a:rPr>
                        <a:t>AWS AgentCore Policy</a:t>
                      </a:r>
                    </a:p>
                  </a:txBody>
                  <a:tcPr marL="60000" marR="60000" marT="25000" marB="25000">
                    <a:solidFill>
                      <a:srgbClr val="F5F7FA"/>
                    </a:solidFill>
                  </a:tcPr>
                </a:tc>
                <a:tc>
                  <a:txBody>
                    <a:bodyPr/>
                    <a:lstStyle/>
                    <a:p>
                      <a:r>
                        <a:rPr sz="850" b="0" i="0">
                          <a:solidFill>
                            <a:srgbClr val="1F2937"/>
                          </a:solidFill>
                        </a:rPr>
                        <a:t>Cedar policies at the tool gateway</a:t>
                      </a:r>
                    </a:p>
                  </a:txBody>
                  <a:tcPr marL="60000" marR="60000" marT="25000" marB="25000">
                    <a:solidFill>
                      <a:srgbClr val="F5F7FA"/>
                    </a:solidFill>
                  </a:tcPr>
                </a:tc>
                <a:tc>
                  <a:txBody>
                    <a:bodyPr/>
                    <a:lstStyle/>
                    <a:p>
                      <a:r>
                        <a:rPr sz="850" b="0" i="0">
                          <a:solidFill>
                            <a:srgbClr val="1F2937"/>
                          </a:solidFill>
                        </a:rPr>
                        <a:t>Deterministic authorization; no consequence or provenance</a:t>
                      </a:r>
                    </a:p>
                  </a:txBody>
                  <a:tcPr marL="60000" marR="60000" marT="25000" marB="25000">
                    <a:solidFill>
                      <a:srgbClr val="F5F7FA"/>
                    </a:solidFill>
                  </a:tcPr>
                </a:tc>
              </a:tr>
              <a:tr h="330000">
                <a:tc>
                  <a:txBody>
                    <a:bodyPr/>
                    <a:lstStyle/>
                    <a:p>
                      <a:r>
                        <a:rPr sz="850" b="0" i="0">
                          <a:solidFill>
                            <a:srgbClr val="1F2937"/>
                          </a:solidFill>
                        </a:rPr>
                        <a:t>NVIDIA NeMo IORails</a:t>
                      </a:r>
                    </a:p>
                  </a:txBody>
                  <a:tcPr marL="60000" marR="60000" marT="25000" marB="25000">
                    <a:solidFill>
                      <a:srgbClr val="FFFFFF"/>
                    </a:solidFill>
                  </a:tcPr>
                </a:tc>
                <a:tc>
                  <a:txBody>
                    <a:bodyPr/>
                    <a:lstStyle/>
                    <a:p>
                      <a:r>
                        <a:rPr sz="850" b="0" i="0">
                          <a:solidFill>
                            <a:srgbClr val="1F2937"/>
                          </a:solidFill>
                        </a:rPr>
                        <a:t>Tool-call allowlist + JSON Schema</a:t>
                      </a:r>
                    </a:p>
                  </a:txBody>
                  <a:tcPr marL="60000" marR="60000" marT="25000" marB="25000">
                    <a:solidFill>
                      <a:srgbClr val="FFFFFF"/>
                    </a:solidFill>
                  </a:tcPr>
                </a:tc>
                <a:tc>
                  <a:txBody>
                    <a:bodyPr/>
                    <a:lstStyle/>
                    <a:p>
                      <a:r>
                        <a:rPr sz="850" b="0" i="0">
                          <a:solidFill>
                            <a:srgbClr val="1F2937"/>
                          </a:solidFill>
                        </a:rPr>
                        <a:t>Experimental, structural checks only</a:t>
                      </a:r>
                    </a:p>
                  </a:txBody>
                  <a:tcPr marL="60000" marR="60000" marT="25000" marB="25000">
                    <a:solidFill>
                      <a:srgbClr val="FFFFFF"/>
                    </a:solidFill>
                  </a:tcPr>
                </a:tc>
              </a:tr>
              <a:tr h="330000">
                <a:tc>
                  <a:txBody>
                    <a:bodyPr/>
                    <a:lstStyle/>
                    <a:p>
                      <a:r>
                        <a:rPr sz="850" b="0" i="0">
                          <a:solidFill>
                            <a:srgbClr val="1F2937"/>
                          </a:solidFill>
                        </a:rPr>
                        <a:t>Meta LlamaFirewall</a:t>
                      </a:r>
                    </a:p>
                  </a:txBody>
                  <a:tcPr marL="60000" marR="60000" marT="25000" marB="25000">
                    <a:solidFill>
                      <a:srgbClr val="F5F7FA"/>
                    </a:solidFill>
                  </a:tcPr>
                </a:tc>
                <a:tc>
                  <a:txBody>
                    <a:bodyPr/>
                    <a:lstStyle/>
                    <a:p>
                      <a:r>
                        <a:rPr sz="850" b="0" i="0">
                          <a:solidFill>
                            <a:srgbClr val="1F2937"/>
                          </a:solidFill>
                        </a:rPr>
                        <a:t>PromptGuard 2 + AlignmentCheck</a:t>
                      </a:r>
                    </a:p>
                  </a:txBody>
                  <a:tcPr marL="60000" marR="60000" marT="25000" marB="25000">
                    <a:solidFill>
                      <a:srgbClr val="F5F7FA"/>
                    </a:solidFill>
                  </a:tcPr>
                </a:tc>
                <a:tc>
                  <a:txBody>
                    <a:bodyPr/>
                    <a:lstStyle/>
                    <a:p>
                      <a:r>
                        <a:rPr sz="850" b="0" i="0">
                          <a:solidFill>
                            <a:srgbClr val="1F2937"/>
                          </a:solidFill>
                        </a:rPr>
                        <a:t>AgentDojo ASR 17.6% → 1.75%, utility 47.7% → 42.7%</a:t>
                      </a:r>
                    </a:p>
                  </a:txBody>
                  <a:tcPr marL="60000" marR="60000" marT="25000" marB="25000">
                    <a:solidFill>
                      <a:srgbClr val="F5F7FA"/>
                    </a:solidFill>
                  </a:tcPr>
                </a:tc>
              </a:tr>
              <a:tr h="330000">
                <a:tc>
                  <a:txBody>
                    <a:bodyPr/>
                    <a:lstStyle/>
                    <a:p>
                      <a:r>
                        <a:rPr sz="850" b="0" i="0">
                          <a:solidFill>
                            <a:srgbClr val="1F2937"/>
                          </a:solidFill>
                        </a:rPr>
                        <a:t>Google CaMeL</a:t>
                      </a:r>
                    </a:p>
                  </a:txBody>
                  <a:tcPr marL="60000" marR="60000" marT="25000" marB="25000">
                    <a:solidFill>
                      <a:srgbClr val="FFFFFF"/>
                    </a:solidFill>
                  </a:tcPr>
                </a:tc>
                <a:tc>
                  <a:txBody>
                    <a:bodyPr/>
                    <a:lstStyle/>
                    <a:p>
                      <a:r>
                        <a:rPr sz="850" b="0" i="0">
                          <a:solidFill>
                            <a:srgbClr val="1F2937"/>
                          </a:solidFill>
                        </a:rPr>
                        <a:t>Control/data-flow separation, capabilities</a:t>
                      </a:r>
                    </a:p>
                  </a:txBody>
                  <a:tcPr marL="60000" marR="60000" marT="25000" marB="25000">
                    <a:solidFill>
                      <a:srgbClr val="FFFFFF"/>
                    </a:solidFill>
                  </a:tcPr>
                </a:tc>
                <a:tc>
                  <a:txBody>
                    <a:bodyPr/>
                    <a:lstStyle/>
                    <a:p>
                      <a:r>
                        <a:rPr sz="850" b="0" i="0">
                          <a:solidFill>
                            <a:srgbClr val="1F2937"/>
                          </a:solidFill>
                        </a:rPr>
                        <a:t>77% AgentDojo tasks with provable security vs 84% undefended</a:t>
                      </a:r>
                    </a:p>
                  </a:txBody>
                  <a:tcPr marL="60000" marR="60000" marT="25000" marB="25000">
                    <a:solidFill>
                      <a:srgbClr val="FFFFFF"/>
                    </a:solidFill>
                  </a:tcPr>
                </a:tc>
              </a:tr>
              <a:tr h="330000">
                <a:tc>
                  <a:txBody>
                    <a:bodyPr/>
                    <a:lstStyle/>
                    <a:p>
                      <a:r>
                        <a:rPr sz="850" b="0" i="0">
                          <a:solidFill>
                            <a:srgbClr val="1F2937"/>
                          </a:solidFill>
                        </a:rPr>
                        <a:t>Progent</a:t>
                      </a:r>
                    </a:p>
                  </a:txBody>
                  <a:tcPr marL="60000" marR="60000" marT="25000" marB="25000">
                    <a:solidFill>
                      <a:srgbClr val="F5F7FA"/>
                    </a:solidFill>
                  </a:tcPr>
                </a:tc>
                <a:tc>
                  <a:txBody>
                    <a:bodyPr/>
                    <a:lstStyle/>
                    <a:p>
                      <a:r>
                        <a:rPr sz="850" b="0" i="0">
                          <a:solidFill>
                            <a:srgbClr val="1F2937"/>
                          </a:solidFill>
                        </a:rPr>
                        <a:t>Least-privilege policies</a:t>
                      </a:r>
                    </a:p>
                  </a:txBody>
                  <a:tcPr marL="60000" marR="60000" marT="25000" marB="25000">
                    <a:solidFill>
                      <a:srgbClr val="F5F7FA"/>
                    </a:solidFill>
                  </a:tcPr>
                </a:tc>
                <a:tc>
                  <a:txBody>
                    <a:bodyPr/>
                    <a:lstStyle/>
                    <a:p>
                      <a:r>
                        <a:rPr sz="850" b="0" i="0">
                          <a:solidFill>
                            <a:srgbClr val="1F2937"/>
                          </a:solidFill>
                        </a:rPr>
                        <a:t>AgentDojo ASR 41.2% → 2.2%</a:t>
                      </a:r>
                    </a:p>
                  </a:txBody>
                  <a:tcPr marL="60000" marR="60000" marT="25000" marB="25000">
                    <a:solidFill>
                      <a:srgbClr val="F5F7FA"/>
                    </a:solidFill>
                  </a:tcPr>
                </a:tc>
              </a:tr>
              <a:tr h="330000">
                <a:tc>
                  <a:txBody>
                    <a:bodyPr/>
                    <a:lstStyle/>
                    <a:p>
                      <a:r>
                        <a:rPr sz="850" b="0" i="0">
                          <a:solidFill>
                            <a:srgbClr val="1F2937"/>
                          </a:solidFill>
                        </a:rPr>
                        <a:t>Microsoft Fides Gateway</a:t>
                      </a:r>
                    </a:p>
                  </a:txBody>
                  <a:tcPr marL="60000" marR="60000" marT="25000" marB="25000">
                    <a:solidFill>
                      <a:srgbClr val="FFFFFF"/>
                    </a:solidFill>
                  </a:tcPr>
                </a:tc>
                <a:tc>
                  <a:txBody>
                    <a:bodyPr/>
                    <a:lstStyle/>
                    <a:p>
                      <a:r>
                        <a:rPr sz="850" b="0" i="0">
                          <a:solidFill>
                            <a:srgbClr val="1F2937"/>
                          </a:solidFill>
                        </a:rPr>
                        <a:t>MCP proxy, IFC labels, Rego</a:t>
                      </a:r>
                    </a:p>
                  </a:txBody>
                  <a:tcPr marL="60000" marR="60000" marT="25000" marB="25000">
                    <a:solidFill>
                      <a:srgbClr val="FFFFFF"/>
                    </a:solidFill>
                  </a:tcPr>
                </a:tc>
                <a:tc>
                  <a:txBody>
                    <a:bodyPr/>
                    <a:lstStyle/>
                    <a:p>
                      <a:r>
                        <a:rPr sz="850" b="0" i="0">
                          <a:solidFill>
                            <a:srgbClr val="1F2937"/>
                          </a:solidFill>
                        </a:rPr>
                        <a:t>Labels + policy; no consequence estimation</a:t>
                      </a:r>
                    </a:p>
                  </a:txBody>
                  <a:tcPr marL="60000" marR="60000" marT="25000" marB="25000">
                    <a:solidFill>
                      <a:srgbClr val="FFFFFF"/>
                    </a:solidFill>
                  </a:tcPr>
                </a:tc>
              </a:tr>
              <a:tr h="330000">
                <a:tc>
                  <a:txBody>
                    <a:bodyPr/>
                    <a:lstStyle/>
                    <a:p>
                      <a:r>
                        <a:rPr sz="850" b="0" i="0">
                          <a:solidFill>
                            <a:srgbClr val="1F2937"/>
                          </a:solidFill>
                        </a:rPr>
                        <a:t>Cordon (2026)</a:t>
                      </a:r>
                    </a:p>
                  </a:txBody>
                  <a:tcPr marL="60000" marR="60000" marT="25000" marB="25000">
                    <a:solidFill>
                      <a:srgbClr val="F5F7FA"/>
                    </a:solidFill>
                  </a:tcPr>
                </a:tc>
                <a:tc>
                  <a:txBody>
                    <a:bodyPr/>
                    <a:lstStyle/>
                    <a:p>
                      <a:r>
                        <a:rPr sz="850" b="0" i="0">
                          <a:solidFill>
                            <a:srgbClr val="1F2937"/>
                          </a:solidFill>
                        </a:rPr>
                        <a:t>Shadow state + effect outbox, validate before commit</a:t>
                      </a:r>
                    </a:p>
                  </a:txBody>
                  <a:tcPr marL="60000" marR="60000" marT="25000" marB="25000">
                    <a:solidFill>
                      <a:srgbClr val="F5F7FA"/>
                    </a:solidFill>
                  </a:tcPr>
                </a:tc>
                <a:tc>
                  <a:txBody>
                    <a:bodyPr/>
                    <a:lstStyle/>
                    <a:p>
                      <a:r>
                        <a:rPr sz="850" b="0" i="0">
                          <a:solidFill>
                            <a:srgbClr val="1F2937"/>
                          </a:solidFill>
                        </a:rPr>
                        <a:t>Lineage/authority; no magnitude or calibrated strictness</a:t>
                      </a:r>
                    </a:p>
                  </a:txBody>
                  <a:tcPr marL="60000" marR="60000" marT="25000" marB="25000">
                    <a:solidFill>
                      <a:srgbClr val="F5F7FA"/>
                    </a:solidFill>
                  </a:tcPr>
                </a:tc>
              </a:tr>
              <a:tr h="330000">
                <a:tc>
                  <a:txBody>
                    <a:bodyPr/>
                    <a:lstStyle/>
                    <a:p>
                      <a:r>
                        <a:rPr sz="850" b="0" i="0">
                          <a:solidFill>
                            <a:srgbClr val="1F2937"/>
                          </a:solidFill>
                        </a:rPr>
                        <a:t>Infosys Agentic AI Foundry</a:t>
                      </a:r>
                    </a:p>
                  </a:txBody>
                  <a:tcPr marL="60000" marR="60000" marT="25000" marB="25000">
                    <a:solidFill>
                      <a:srgbClr val="FFFFFF"/>
                    </a:solidFill>
                  </a:tcPr>
                </a:tc>
                <a:tc>
                  <a:txBody>
                    <a:bodyPr/>
                    <a:lstStyle/>
                    <a:p>
                      <a:r>
                        <a:rPr sz="850" b="0" i="0">
                          <a:solidFill>
                            <a:srgbClr val="1F2937"/>
                          </a:solidFill>
                        </a:rPr>
                        <a:t>Tool Interrupt, validators, plan verifier, RBAC</a:t>
                      </a:r>
                    </a:p>
                  </a:txBody>
                  <a:tcPr marL="60000" marR="60000" marT="25000" marB="25000">
                    <a:solidFill>
                      <a:srgbClr val="FFFFFF"/>
                    </a:solidFill>
                  </a:tcPr>
                </a:tc>
                <a:tc>
                  <a:txBody>
                    <a:bodyPr/>
                    <a:lstStyle/>
                    <a:p>
                      <a:r>
                        <a:rPr sz="850" b="0" i="0">
                          <a:solidFill>
                            <a:srgbClr val="1F2937"/>
                          </a:solidFill>
                        </a:rPr>
                        <a:t>Manual step-by-step approval; no automated risk triage</a:t>
                      </a:r>
                    </a:p>
                  </a:txBody>
                  <a:tcPr marL="60000" marR="60000" marT="25000" marB="25000">
                    <a:solidFill>
                      <a:srgbClr val="FFFFFF"/>
                    </a:solidFill>
                  </a:tcPr>
                </a:tc>
              </a:tr>
              <a:tr h="330000">
                <a:tc>
                  <a:txBody>
                    <a:bodyPr/>
                    <a:lstStyle/>
                    <a:p>
                      <a:r>
                        <a:rPr sz="850" b="0" i="0">
                          <a:solidFill>
                            <a:srgbClr val="1F2937"/>
                          </a:solidFill>
                        </a:rPr>
                        <a:t>KAVACH</a:t>
                      </a:r>
                    </a:p>
                  </a:txBody>
                  <a:tcPr marL="60000" marR="60000" marT="25000" marB="25000">
                    <a:solidFill>
                      <a:srgbClr val="F5F7FA"/>
                    </a:solidFill>
                  </a:tcPr>
                </a:tc>
                <a:tc>
                  <a:txBody>
                    <a:bodyPr/>
                    <a:lstStyle/>
                    <a:p>
                      <a:r>
                        <a:rPr sz="850" b="0" i="0">
                          <a:solidFill>
                            <a:srgbClr val="1F2937"/>
                          </a:solidFill>
                        </a:rPr>
                        <a:t>Gates + provenance + measured effect + calibrated, reversibility-conditioned risk</a:t>
                      </a:r>
                    </a:p>
                  </a:txBody>
                  <a:tcPr marL="60000" marR="60000" marT="25000" marB="25000">
                    <a:solidFill>
                      <a:srgbClr val="F5F7FA"/>
                    </a:solidFill>
                  </a:tcPr>
                </a:tc>
                <a:tc>
                  <a:txBody>
                    <a:bodyPr/>
                    <a:lstStyle/>
                    <a:p>
                      <a:r>
                        <a:rPr sz="850" b="0" i="0">
                          <a:solidFill>
                            <a:srgbClr val="1F2937"/>
                          </a:solidFill>
                        </a:rPr>
                        <a:t>Combines the above at one control point; HITL only when uncertain</a:t>
                      </a:r>
                    </a:p>
                  </a:txBody>
                  <a:tcPr marL="60000" marR="60000" marT="25000" marB="25000">
                    <a:solidFill>
                      <a:srgbClr val="F5F7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56032"/>
            <a:ext cx="8869680" cy="420000"/>
          </a:xfrm>
          <a:prstGeom prst="rect">
            <a:avLst/>
          </a:prstGeom>
          <a:noFill/>
        </p:spPr>
        <p:txBody>
          <a:bodyPr wrap="square">
            <a:spAutoFit/>
          </a:bodyPr>
          <a:lstStyle/>
          <a:p>
            <a:r>
              <a:rPr sz="2400" b="0" i="0">
                <a:solidFill>
                  <a:srgbClr val="111827"/>
                </a:solidFill>
                <a:latin typeface="Aptos Display"/>
              </a:rPr>
              <a:t>Appendix E · How we use the Qualcomm platform</a:t>
            </a:r>
          </a:p>
        </p:txBody>
      </p:sp>
      <p:sp>
        <p:nvSpPr>
          <p:cNvPr id="3" name="TextBox 2"/>
          <p:cNvSpPr txBox="1"/>
          <p:nvPr/>
        </p:nvSpPr>
        <p:spPr>
          <a:xfrm>
            <a:off x="475488" y="680000"/>
            <a:ext cx="9300000" cy="260000"/>
          </a:xfrm>
          <a:prstGeom prst="rect">
            <a:avLst/>
          </a:prstGeom>
          <a:noFill/>
        </p:spPr>
        <p:txBody>
          <a:bodyPr wrap="square">
            <a:spAutoFit/>
          </a:bodyPr>
          <a:lstStyle/>
          <a:p>
            <a:r>
              <a:rPr sz="1050" b="0" i="0">
                <a:solidFill>
                  <a:srgbClr val="5B6573"/>
                </a:solidFill>
              </a:rPr>
              <a:t>Contract read from Qualcomm’s python-imagine-sdk 0.5.0 (OpenAI-compatible). Verify the live model list with GET /models on your key.</a:t>
            </a:r>
          </a:p>
        </p:txBody>
      </p:sp>
      <p:graphicFrame>
        <p:nvGraphicFramePr>
          <p:cNvPr id="4" name="Table 3"/>
          <p:cNvGraphicFramePr>
            <a:graphicFrameLocks noGrp="1"/>
          </p:cNvGraphicFramePr>
          <p:nvPr/>
        </p:nvGraphicFramePr>
        <p:xfrm>
          <a:off x="475488" y="1050000"/>
          <a:ext cx="11240000" cy="2280000"/>
        </p:xfrm>
        <a:graphic>
          <a:graphicData uri="http://schemas.openxmlformats.org/drawingml/2006/table">
            <a:tbl>
              <a:tblPr firstRow="1" bandRow="1">
                <a:tableStyleId>{5C22544A-7EE6-4342-B048-85BDC9FD1C3A}</a:tableStyleId>
              </a:tblPr>
              <a:tblGrid>
                <a:gridCol w="2300000"/>
                <a:gridCol w="3300000"/>
                <a:gridCol w="3500000"/>
                <a:gridCol w="2140000"/>
              </a:tblGrid>
              <a:tr h="380000">
                <a:tc>
                  <a:txBody>
                    <a:bodyPr/>
                    <a:lstStyle/>
                    <a:p>
                      <a:r>
                        <a:rPr sz="900" b="1" i="0">
                          <a:solidFill>
                            <a:srgbClr val="FFFFFF"/>
                          </a:solidFill>
                        </a:rPr>
                        <a:t>Role</a:t>
                      </a:r>
                    </a:p>
                  </a:txBody>
                  <a:tcPr marL="60000" marR="60000" marT="25000" marB="25000">
                    <a:solidFill>
                      <a:srgbClr val="007CC3"/>
                    </a:solidFill>
                  </a:tcPr>
                </a:tc>
                <a:tc>
                  <a:txBody>
                    <a:bodyPr/>
                    <a:lstStyle/>
                    <a:p>
                      <a:r>
                        <a:rPr sz="900" b="1" i="0">
                          <a:solidFill>
                            <a:srgbClr val="FFFFFF"/>
                          </a:solidFill>
                        </a:rPr>
                        <a:t>Model / endpoint</a:t>
                      </a:r>
                    </a:p>
                  </a:txBody>
                  <a:tcPr marL="60000" marR="60000" marT="25000" marB="25000">
                    <a:solidFill>
                      <a:srgbClr val="007CC3"/>
                    </a:solidFill>
                  </a:tcPr>
                </a:tc>
                <a:tc>
                  <a:txBody>
                    <a:bodyPr/>
                    <a:lstStyle/>
                    <a:p>
                      <a:r>
                        <a:rPr sz="900" b="1" i="0">
                          <a:solidFill>
                            <a:srgbClr val="FFFFFF"/>
                          </a:solidFill>
                        </a:rPr>
                        <a:t>Input → output</a:t>
                      </a:r>
                    </a:p>
                  </a:txBody>
                  <a:tcPr marL="60000" marR="60000" marT="25000" marB="25000">
                    <a:solidFill>
                      <a:srgbClr val="007CC3"/>
                    </a:solidFill>
                  </a:tcPr>
                </a:tc>
                <a:tc>
                  <a:txBody>
                    <a:bodyPr/>
                    <a:lstStyle/>
                    <a:p>
                      <a:r>
                        <a:rPr sz="900" b="1" i="0">
                          <a:solidFill>
                            <a:srgbClr val="FFFFFF"/>
                          </a:solidFill>
                        </a:rPr>
                        <a:t>If unavailable</a:t>
                      </a:r>
                    </a:p>
                  </a:txBody>
                  <a:tcPr marL="60000" marR="60000" marT="25000" marB="25000">
                    <a:solidFill>
                      <a:srgbClr val="007CC3"/>
                    </a:solidFill>
                  </a:tcPr>
                </a:tc>
              </a:tr>
              <a:tr h="380000">
                <a:tc>
                  <a:txBody>
                    <a:bodyPr/>
                    <a:lstStyle/>
                    <a:p>
                      <a:r>
                        <a:rPr sz="900" b="0" i="0">
                          <a:solidFill>
                            <a:srgbClr val="1F2937"/>
                          </a:solidFill>
                        </a:rPr>
                        <a:t>Protected agent’s brain</a:t>
                      </a:r>
                    </a:p>
                  </a:txBody>
                  <a:tcPr marL="60000" marR="60000" marT="25000" marB="25000">
                    <a:solidFill>
                      <a:srgbClr val="F5F7FA"/>
                    </a:solidFill>
                  </a:tcPr>
                </a:tc>
                <a:tc>
                  <a:txBody>
                    <a:bodyPr/>
                    <a:lstStyle/>
                    <a:p>
                      <a:r>
                        <a:rPr sz="900" b="0" i="0">
                          <a:solidFill>
                            <a:srgbClr val="1F2937"/>
                          </a:solidFill>
                        </a:rPr>
                        <a:t>Llama-3.3-70B (or listed LLM) · POST chat/completions with tools</a:t>
                      </a:r>
                    </a:p>
                  </a:txBody>
                  <a:tcPr marL="60000" marR="60000" marT="25000" marB="25000">
                    <a:solidFill>
                      <a:srgbClr val="F5F7FA"/>
                    </a:solidFill>
                  </a:tcPr>
                </a:tc>
                <a:tc>
                  <a:txBody>
                    <a:bodyPr/>
                    <a:lstStyle/>
                    <a:p>
                      <a:r>
                        <a:rPr sz="900" b="0" i="0">
                          <a:solidFill>
                            <a:srgbClr val="1F2937"/>
                          </a:solidFill>
                        </a:rPr>
                        <a:t>user task + tool results → tool calls</a:t>
                      </a:r>
                    </a:p>
                  </a:txBody>
                  <a:tcPr marL="60000" marR="60000" marT="25000" marB="25000">
                    <a:solidFill>
                      <a:srgbClr val="F5F7FA"/>
                    </a:solidFill>
                  </a:tcPr>
                </a:tc>
                <a:tc>
                  <a:txBody>
                    <a:bodyPr/>
                    <a:lstStyle/>
                    <a:p>
                      <a:r>
                        <a:rPr sz="900" b="0" i="0">
                          <a:solidFill>
                            <a:srgbClr val="1F2937"/>
                          </a:solidFill>
                        </a:rPr>
                        <a:t>demo uses the scripted agent</a:t>
                      </a:r>
                    </a:p>
                  </a:txBody>
                  <a:tcPr marL="60000" marR="60000" marT="25000" marB="25000">
                    <a:solidFill>
                      <a:srgbClr val="F5F7FA"/>
                    </a:solidFill>
                  </a:tcPr>
                </a:tc>
              </a:tr>
              <a:tr h="380000">
                <a:tc>
                  <a:txBody>
                    <a:bodyPr/>
                    <a:lstStyle/>
                    <a:p>
                      <a:r>
                        <a:rPr sz="900" b="0" i="0">
                          <a:solidFill>
                            <a:srgbClr val="1F2937"/>
                          </a:solidFill>
                        </a:rPr>
                        <a:t>Reasoning-blind intent judge</a:t>
                      </a:r>
                    </a:p>
                  </a:txBody>
                  <a:tcPr marL="60000" marR="60000" marT="25000" marB="25000">
                    <a:solidFill>
                      <a:srgbClr val="FFFFFF"/>
                    </a:solidFill>
                  </a:tcPr>
                </a:tc>
                <a:tc>
                  <a:txBody>
                    <a:bodyPr/>
                    <a:lstStyle/>
                    <a:p>
                      <a:r>
                        <a:rPr sz="900" b="0" i="0">
                          <a:solidFill>
                            <a:srgbClr val="1F2937"/>
                          </a:solidFill>
                        </a:rPr>
                        <a:t>Llama-3.1-8B (SDK default, low latency)</a:t>
                      </a:r>
                    </a:p>
                  </a:txBody>
                  <a:tcPr marL="60000" marR="60000" marT="25000" marB="25000">
                    <a:solidFill>
                      <a:srgbClr val="FFFFFF"/>
                    </a:solidFill>
                  </a:tcPr>
                </a:tc>
                <a:tc>
                  <a:txBody>
                    <a:bodyPr/>
                    <a:lstStyle/>
                    <a:p>
                      <a:r>
                        <a:rPr sz="900" b="0" i="0">
                          <a:solidFill>
                            <a:srgbClr val="1F2937"/>
                          </a:solidFill>
                        </a:rPr>
                        <a:t>request + action + provenance → alignment 0–1</a:t>
                      </a:r>
                    </a:p>
                  </a:txBody>
                  <a:tcPr marL="60000" marR="60000" marT="25000" marB="25000">
                    <a:solidFill>
                      <a:srgbClr val="FFFFFF"/>
                    </a:solidFill>
                  </a:tcPr>
                </a:tc>
                <a:tc>
                  <a:txBody>
                    <a:bodyPr/>
                    <a:lstStyle/>
                    <a:p>
                      <a:r>
                        <a:rPr sz="900" b="0" i="0">
                          <a:solidFill>
                            <a:srgbClr val="1F2937"/>
                          </a:solidFill>
                        </a:rPr>
                        <a:t>heuristic score; never relaxes</a:t>
                      </a:r>
                    </a:p>
                  </a:txBody>
                  <a:tcPr marL="60000" marR="60000" marT="25000" marB="25000">
                    <a:solidFill>
                      <a:srgbClr val="FFFFFF"/>
                    </a:solidFill>
                  </a:tcPr>
                </a:tc>
              </a:tr>
              <a:tr h="380000">
                <a:tc>
                  <a:txBody>
                    <a:bodyPr/>
                    <a:lstStyle/>
                    <a:p>
                      <a:r>
                        <a:rPr sz="900" b="0" i="0">
                          <a:solidFill>
                            <a:srgbClr val="1F2937"/>
                          </a:solidFill>
                        </a:rPr>
                        <a:t>Explanation writer</a:t>
                      </a:r>
                    </a:p>
                  </a:txBody>
                  <a:tcPr marL="60000" marR="60000" marT="25000" marB="25000">
                    <a:solidFill>
                      <a:srgbClr val="F5F7FA"/>
                    </a:solidFill>
                  </a:tcPr>
                </a:tc>
                <a:tc>
                  <a:txBody>
                    <a:bodyPr/>
                    <a:lstStyle/>
                    <a:p>
                      <a:r>
                        <a:rPr sz="900" b="0" i="0">
                          <a:solidFill>
                            <a:srgbClr val="1F2937"/>
                          </a:solidFill>
                        </a:rPr>
                        <a:t>Llama-3.1-8B</a:t>
                      </a:r>
                    </a:p>
                  </a:txBody>
                  <a:tcPr marL="60000" marR="60000" marT="25000" marB="25000">
                    <a:solidFill>
                      <a:srgbClr val="F5F7FA"/>
                    </a:solidFill>
                  </a:tcPr>
                </a:tc>
                <a:tc>
                  <a:txBody>
                    <a:bodyPr/>
                    <a:lstStyle/>
                    <a:p>
                      <a:r>
                        <a:rPr sz="900" b="0" i="0">
                          <a:solidFill>
                            <a:srgbClr val="1F2937"/>
                          </a:solidFill>
                        </a:rPr>
                        <a:t>evidence JSON → 3 plain sentences (number-checked)</a:t>
                      </a:r>
                    </a:p>
                  </a:txBody>
                  <a:tcPr marL="60000" marR="60000" marT="25000" marB="25000">
                    <a:solidFill>
                      <a:srgbClr val="F5F7FA"/>
                    </a:solidFill>
                  </a:tcPr>
                </a:tc>
                <a:tc>
                  <a:txBody>
                    <a:bodyPr/>
                    <a:lstStyle/>
                    <a:p>
                      <a:r>
                        <a:rPr sz="900" b="0" i="0">
                          <a:solidFill>
                            <a:srgbClr val="1F2937"/>
                          </a:solidFill>
                        </a:rPr>
                        <a:t>template explanation</a:t>
                      </a:r>
                    </a:p>
                  </a:txBody>
                  <a:tcPr marL="60000" marR="60000" marT="25000" marB="25000">
                    <a:solidFill>
                      <a:srgbClr val="F5F7FA"/>
                    </a:solidFill>
                  </a:tcPr>
                </a:tc>
              </a:tr>
              <a:tr h="380000">
                <a:tc>
                  <a:txBody>
                    <a:bodyPr/>
                    <a:lstStyle/>
                    <a:p>
                      <a:r>
                        <a:rPr sz="900" b="0" i="0">
                          <a:solidFill>
                            <a:srgbClr val="1F2937"/>
                          </a:solidFill>
                        </a:rPr>
                        <a:t>Future: semantic features</a:t>
                      </a:r>
                    </a:p>
                  </a:txBody>
                  <a:tcPr marL="60000" marR="60000" marT="25000" marB="25000">
                    <a:solidFill>
                      <a:srgbClr val="FFFFFF"/>
                    </a:solidFill>
                  </a:tcPr>
                </a:tc>
                <a:tc>
                  <a:txBody>
                    <a:bodyPr/>
                    <a:lstStyle/>
                    <a:p>
                      <a:r>
                        <a:rPr sz="900" b="0" i="0">
                          <a:solidFill>
                            <a:srgbClr val="1F2937"/>
                          </a:solidFill>
                        </a:rPr>
                        <a:t>BAAI/bge-large-en-v1.5 embeddings, bge-reranker-base</a:t>
                      </a:r>
                    </a:p>
                  </a:txBody>
                  <a:tcPr marL="60000" marR="60000" marT="25000" marB="25000">
                    <a:solidFill>
                      <a:srgbClr val="FFFFFF"/>
                    </a:solidFill>
                  </a:tcPr>
                </a:tc>
                <a:tc>
                  <a:txBody>
                    <a:bodyPr/>
                    <a:lstStyle/>
                    <a:p>
                      <a:r>
                        <a:rPr sz="900" b="0" i="0">
                          <a:solidFill>
                            <a:srgbClr val="1F2937"/>
                          </a:solidFill>
                        </a:rPr>
                        <a:t>request ↔ action similarity; attack-corpus similarity</a:t>
                      </a:r>
                    </a:p>
                  </a:txBody>
                  <a:tcPr marL="60000" marR="60000" marT="25000" marB="25000">
                    <a:solidFill>
                      <a:srgbClr val="FFFFFF"/>
                    </a:solidFill>
                  </a:tcPr>
                </a:tc>
                <a:tc>
                  <a:txBody>
                    <a:bodyPr/>
                    <a:lstStyle/>
                    <a:p>
                      <a:r>
                        <a:rPr sz="900" b="0" i="0">
                          <a:solidFill>
                            <a:srgbClr val="1F2937"/>
                          </a:solidFill>
                        </a:rPr>
                        <a:t>feature omitted</a:t>
                      </a:r>
                    </a:p>
                  </a:txBody>
                  <a:tcPr marL="60000" marR="60000" marT="25000" marB="25000">
                    <a:solidFill>
                      <a:srgbClr val="FFFFFF"/>
                    </a:solidFill>
                  </a:tcPr>
                </a:tc>
              </a:tr>
              <a:tr h="380000">
                <a:tc>
                  <a:txBody>
                    <a:bodyPr/>
                    <a:lstStyle/>
                    <a:p>
                      <a:r>
                        <a:rPr sz="900" b="0" i="0">
                          <a:solidFill>
                            <a:srgbClr val="1F2937"/>
                          </a:solidFill>
                        </a:rPr>
                        <a:t>Optional edge: Arduino UNO Q</a:t>
                      </a:r>
                    </a:p>
                  </a:txBody>
                  <a:tcPr marL="60000" marR="60000" marT="25000" marB="25000">
                    <a:solidFill>
                      <a:srgbClr val="F5F7FA"/>
                    </a:solidFill>
                  </a:tcPr>
                </a:tc>
                <a:tc>
                  <a:txBody>
                    <a:bodyPr/>
                    <a:lstStyle/>
                    <a:p>
                      <a:r>
                        <a:rPr sz="900" b="0" i="0">
                          <a:solidFill>
                            <a:srgbClr val="1F2937"/>
                          </a:solidFill>
                        </a:rPr>
                        <a:t>Dragonwing QRB2210 + STM32U585</a:t>
                      </a:r>
                    </a:p>
                  </a:txBody>
                  <a:tcPr marL="60000" marR="60000" marT="25000" marB="25000">
                    <a:solidFill>
                      <a:srgbClr val="F5F7FA"/>
                    </a:solidFill>
                  </a:tcPr>
                </a:tc>
                <a:tc>
                  <a:txBody>
                    <a:bodyPr/>
                    <a:lstStyle/>
                    <a:p>
                      <a:r>
                        <a:rPr sz="900" b="0" i="0">
                          <a:solidFill>
                            <a:srgbClr val="1F2937"/>
                          </a:solidFill>
                        </a:rPr>
                        <a:t>hardware approval button + LED risk display for irreversible actions</a:t>
                      </a:r>
                    </a:p>
                  </a:txBody>
                  <a:tcPr marL="60000" marR="60000" marT="25000" marB="25000">
                    <a:solidFill>
                      <a:srgbClr val="F5F7FA"/>
                    </a:solidFill>
                  </a:tcPr>
                </a:tc>
                <a:tc>
                  <a:txBody>
                    <a:bodyPr/>
                    <a:lstStyle/>
                    <a:p>
                      <a:r>
                        <a:rPr sz="900" b="0" i="0">
                          <a:solidFill>
                            <a:srgbClr val="1F2937"/>
                          </a:solidFill>
                        </a:rPr>
                        <a:t>web approval</a:t>
                      </a:r>
                    </a:p>
                  </a:txBody>
                  <a:tcPr marL="60000" marR="60000" marT="25000" marB="25000">
                    <a:solidFill>
                      <a:srgbClr val="F5F7FA"/>
                    </a:solidFill>
                  </a:tcPr>
                </a:tc>
              </a:tr>
            </a:tbl>
          </a:graphicData>
        </a:graphic>
      </p:graphicFrame>
      <p:sp>
        <p:nvSpPr>
          <p:cNvPr id="5" name="TextBox 4"/>
          <p:cNvSpPr txBox="1"/>
          <p:nvPr/>
        </p:nvSpPr>
        <p:spPr>
          <a:xfrm>
            <a:off x="475488" y="3700000"/>
            <a:ext cx="11240000" cy="1500000"/>
          </a:xfrm>
          <a:prstGeom prst="rect">
            <a:avLst/>
          </a:prstGeom>
          <a:noFill/>
        </p:spPr>
        <p:txBody>
          <a:bodyPr wrap="square">
            <a:spAutoFit/>
          </a:bodyPr>
          <a:lstStyle/>
          <a:p>
            <a:r>
              <a:rPr sz="1000" b="0" i="0">
                <a:solidFill>
                  <a:srgbClr val="1F2937"/>
                </a:solidFill>
              </a:rPr>
              <a:t>Auth: Authorization: Bearer $IMAGINE_API_KEY · Base: $IMAGINE_API_ENDPOINT (Cirrascale playground: https://aisuite.cirrascale.com/apis/v2) · every call has a timeout and a deterministic fallback, so a network failure can never turn into an ALLOW.</a:t>
            </a:r>
          </a:p>
          <a:p>
            <a:r>
              <a:rPr sz="1000" b="0" i="0">
                <a:solidFill>
                  <a:srgbClr val="1F2937"/>
                </a:solidFill>
              </a:rPr>
              <a:t>Why it matters to Qualcomm: Cloud AI 100 is an inference accelerator. KAVACH spends tokens only on ambiguous calls (cost scales with uncertainty, not traffic), and the open Llama models it hosts are the ones that most need an external guardrail.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56032"/>
            <a:ext cx="8869680" cy="420000"/>
          </a:xfrm>
          <a:prstGeom prst="rect">
            <a:avLst/>
          </a:prstGeom>
          <a:noFill/>
        </p:spPr>
        <p:txBody>
          <a:bodyPr wrap="square">
            <a:spAutoFit/>
          </a:bodyPr>
          <a:lstStyle/>
          <a:p>
            <a:r>
              <a:rPr sz="2400" b="0" i="0">
                <a:solidFill>
                  <a:srgbClr val="111827"/>
                </a:solidFill>
                <a:latin typeface="Aptos Display"/>
              </a:rPr>
              <a:t>Appendix F · References</a:t>
            </a:r>
          </a:p>
        </p:txBody>
      </p:sp>
      <p:sp>
        <p:nvSpPr>
          <p:cNvPr id="3" name="TextBox 2"/>
          <p:cNvSpPr txBox="1"/>
          <p:nvPr/>
        </p:nvSpPr>
        <p:spPr>
          <a:xfrm>
            <a:off x="475488" y="900000"/>
            <a:ext cx="11240000" cy="5000000"/>
          </a:xfrm>
          <a:prstGeom prst="rect">
            <a:avLst/>
          </a:prstGeom>
          <a:noFill/>
        </p:spPr>
        <p:txBody>
          <a:bodyPr wrap="square">
            <a:spAutoFit/>
          </a:bodyPr>
          <a:lstStyle/>
          <a:p>
            <a:r>
              <a:rPr sz="1050" b="0" i="0">
                <a:solidFill>
                  <a:srgbClr val="1F2937"/>
                </a:solidFill>
              </a:rPr>
              <a:t>AgentDojo, NeurIPS 2024 D&amp;B (arXiv 2406.13352) · CaMeL, arXiv 2503.18813 · LlamaFirewall, arXiv 2505.03574 · Progent, arXiv 2504.11703</a:t>
            </a:r>
          </a:p>
          <a:p>
            <a:r>
              <a:rPr sz="1050" b="0" i="0">
                <a:solidFill>
                  <a:srgbClr val="1F2937"/>
                </a:solidFill>
              </a:rPr>
              <a:t>Design Patterns for Securing LLM Agents against Prompt Injections, arXiv 2506.08837 · Cordon, arXiv 2606.17573 · Revisable by Design, arXiv 2604.23283</a:t>
            </a:r>
          </a:p>
          <a:p>
            <a:r>
              <a:rPr sz="1050" b="0" i="0">
                <a:solidFill>
                  <a:srgbClr val="1F2937"/>
                </a:solidFill>
              </a:rPr>
              <a:t>Measuring the Permission Gate (AmPermBench), arXiv 2604.04978 · Anthropic, Claude Code auto mode (engineering post) · GoEx, arXiv 2404.06921 · ToolEmu, ICLR 2024</a:t>
            </a:r>
          </a:p>
          <a:p>
            <a:r>
              <a:rPr sz="1050" b="0" i="0">
                <a:solidFill>
                  <a:srgbClr val="1F2937"/>
                </a:solidFill>
              </a:rPr>
              <a:t>KnowNo: Robots That Ask For Help, CoRL 2023 (arXiv 2307.01928) · OWASP Top 10 for Agentic Applications (Dec 2025) · UK AISI × Gray Swan Agent Red-Teaming results (2025)</a:t>
            </a:r>
          </a:p>
          <a:p>
            <a:r>
              <a:rPr sz="1050" b="0" i="0">
                <a:solidFill>
                  <a:srgbClr val="1F2937"/>
                </a:solidFill>
              </a:rPr>
              <a:t>Gartner press release 25 Jun 2025 · EchoLeak CVE-2025-32711 · Invariant Labs: GitHub MCP exploit (May 2025), MCP tool poisoning (Apr 2025) · Replit incident (Jul 2025)</a:t>
            </a:r>
          </a:p>
          <a:p>
            <a:r>
              <a:rPr sz="1050" b="0" i="0">
                <a:solidFill>
                  <a:srgbClr val="1F2937"/>
                </a:solidFill>
              </a:rPr>
              <a:t>Simon Willison, The lethal trifecta (Jun 2025) · NVIDIA NeMo Guardrails tool-calling docs · AWS Bedrock AgentCore Policy docs · microsoft/fides-gateway</a:t>
            </a:r>
          </a:p>
          <a:p>
            <a:r>
              <a:rPr sz="1050" b="0" i="0">
                <a:solidFill>
                  <a:srgbClr val="1F2937"/>
                </a:solidFill>
              </a:rPr>
              <a:t>Infosys Agentic AI Foundry (v1.6–1.9 release notes) · Infosys Responsible AI Toolkit · Qualcomm python-imagine-sdk 0.5.0</a:t>
            </a:r>
          </a:p>
          <a:p>
            <a:r>
              <a:rPr sz="1050" b="0" i="0">
                <a:solidFill>
                  <a:srgbClr val="1F2937"/>
                </a:solidFill>
              </a:rPr>
              <a:t>EU AI Act Art. 14 · RBI FREE-AI framework (Aug 2025) · MeitY India AI Governance Guidelines (Nov 2025)</a:t>
            </a:r>
          </a:p>
          <a:p>
            <a:r>
              <a:rPr sz="1050" b="0" i="0">
                <a:solidFill>
                  <a:srgbClr val="1F2937"/>
                </a:solidFill>
              </a:rPr>
              <a:t>Code, benchmark and full blueprint: github.com/VismayHS/Kavach_Guardrail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71</TotalTime>
  <Words>682</Words>
  <Application>Microsoft Office PowerPoint</Application>
  <PresentationFormat>Widescreen</PresentationFormat>
  <Paragraphs>119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Hack-AI-Thon Student Briefing</dc:title>
  <dc:subject>Infosys ENG NEXT 2026 Hack-AI-Thon student briefing</dc:subject>
  <dc:creator>Venkat Kandhari</dc:creator>
  <cp:lastModifiedBy>Venkat Kandhari</cp:lastModifiedBy>
  <cp:revision>3</cp:revision>
  <dcterms:created xsi:type="dcterms:W3CDTF">2026-09-27T06:06:02Z</dcterms:created>
  <dcterms:modified xsi:type="dcterms:W3CDTF">2026-10-04T05:57:12Z</dcterms:modified>
</cp:coreProperties>
</file>